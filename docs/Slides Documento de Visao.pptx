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66" r:id="rId16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  <Relationship Id="rId16" Type="http://schemas.openxmlformats.org/officeDocument/2006/relationships/slide" Target="slides/slide1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mover o slide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B71AD4C-3068-4194-88D1-FA8FA4A18AA0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97E8F8-A9C4-4B8B-8F23-EBFCA02DD2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85F7F8-054A-42D9-AA0E-F6FBD74D2FF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06CCCB-6A7A-4479-9ADF-8412C36964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AE1B29-BCEC-42B4-99F6-76F441957F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8B1C4D-61D8-4E85-945A-BC45D0401C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287DA2-4640-4863-9226-C142D87B4F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5C14B0-4777-4093-B471-0214EE1540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B0F66A-D829-4E3B-B16F-1D53D30D7B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64FDE3-9C64-4772-9FED-E83747ACED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1402E9-FED7-46EA-A020-07796B320F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812880" y="81288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068"/>
                </a:solidFill>
                <a:latin typeface="Helvetica Neue"/>
                <a:ea typeface="Helvetica Neue"/>
              </a:rPr>
              <a:t>1 · Visão geral do produto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8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521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6f3ec"/>
                </a:solidFill>
                <a:latin typeface="Georgia"/>
                <a:ea typeface="Georgia"/>
              </a:rPr>
              <a:t>VolunJá conecta voluntários e ONGs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16120" y="1968840"/>
            <a:ext cx="3379680" cy="2067120"/>
          </a:xfrm>
          <a:prstGeom prst="roundRect">
            <a:avLst>
              <a:gd name="adj" fmla="val 4760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4616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fd1b4"/>
                </a:solidFill>
                <a:latin typeface="Helvetica Neue"/>
                <a:ea typeface="Helvetica Neue"/>
              </a:rPr>
              <a:t>Problema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046160" y="2562120"/>
            <a:ext cx="3006720" cy="12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Vagas de voluntariado são divulgadas de forma dispersa e informal. Voluntários e ONGs não se encontram nem combinam interesse, horário, local e atividade.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4405680" y="1968840"/>
            <a:ext cx="3379680" cy="2067120"/>
          </a:xfrm>
          <a:prstGeom prst="roundRect">
            <a:avLst>
              <a:gd name="adj" fmla="val 4760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63608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fd1b4"/>
                </a:solidFill>
                <a:latin typeface="Helvetica Neue"/>
                <a:ea typeface="Helvetica Neue"/>
              </a:rPr>
              <a:t>Solução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636080" y="2562120"/>
            <a:ext cx="3006720" cy="10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6666" lnSpcReduction="20000"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Aplicação web com catálogo único de vagas, campos padronizados que viram filtros de busca e candidatura estruturada, com comprovante.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7995600" y="1968840"/>
            <a:ext cx="3379680" cy="2067120"/>
          </a:xfrm>
          <a:prstGeom prst="roundRect">
            <a:avLst>
              <a:gd name="adj" fmla="val 4760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22600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fd1b4"/>
                </a:solidFill>
                <a:latin typeface="Helvetica Neue"/>
                <a:ea typeface="Helvetica Neue"/>
              </a:rPr>
              <a:t>Diferencial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8226000" y="2562120"/>
            <a:ext cx="3006720" cy="12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Foco em UX para públicos de diferentes níveis digitais. Voltado só a voluntariado, ao contrário de LinkedIn e InfoJobs, e com mais credibilidade que o Atados.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812880" y="426852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Tecnologias previstas:</a:t>
            </a:r>
            <a:r>
              <a:rPr b="0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 React, Python, MySQL, Figma, Git e GitHub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12880" y="6238080"/>
            <a:ext cx="78480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ebccb"/>
                </a:solidFill>
                <a:latin typeface="Helvetica Neue"/>
                <a:ea typeface="Helvetica Neue"/>
              </a:rPr>
              <a:t>VolunJá · Equipe Gosling · MDS 2026.2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10058400" y="6238080"/>
            <a:ext cx="13201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ebccb"/>
                </a:solidFill>
                <a:latin typeface="Helvetica Neue"/>
                <a:ea typeface="Helvetica Neue"/>
              </a:rPr>
              <a:t>1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/>
          <p:cNvSpPr/>
          <p:nvPr/>
        </p:nvSpPr>
        <p:spPr>
          <a:xfrm>
            <a:off x="817200" y="44640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068"/>
                </a:solidFill>
                <a:latin typeface="Helvetica Neue"/>
                <a:ea typeface="Helvetica Neue"/>
              </a:rPr>
              <a:t>1 · Visão geral do produto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17200" y="818640"/>
            <a:ext cx="108828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521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6f3ec"/>
                </a:solidFill>
                <a:latin typeface="Georgia"/>
                <a:ea typeface="Georgia"/>
              </a:rPr>
              <a:t>Tabela de tacnologias utilizadas: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39"/>
          <p:cNvSpPr/>
          <p:nvPr/>
        </p:nvSpPr>
        <p:spPr>
          <a:xfrm>
            <a:off x="812880" y="6238080"/>
            <a:ext cx="78480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ebccb"/>
                </a:solidFill>
                <a:latin typeface="Helvetica Neue"/>
                <a:ea typeface="Helvetica Neue"/>
              </a:rPr>
              <a:t>VolunJá · Equipe Gosling · MDS 2026.2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40"/>
          <p:cNvSpPr/>
          <p:nvPr/>
        </p:nvSpPr>
        <p:spPr>
          <a:xfrm>
            <a:off x="10058400" y="5928480"/>
            <a:ext cx="1320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ebccb"/>
                </a:solidFill>
                <a:latin typeface="Helvetica Neue"/>
                <a:ea typeface="Helvetica Neue"/>
              </a:rPr>
              <a:t>2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817200" y="1290240"/>
            <a:ext cx="8386560" cy="487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812880" y="81288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9501a"/>
                </a:solidFill>
                <a:latin typeface="Helvetica Neue"/>
                <a:ea typeface="Helvetica Neue"/>
              </a:rPr>
              <a:t>2 · Visão geral do projeto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8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521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d2733"/>
                </a:solidFill>
                <a:latin typeface="Georgia"/>
                <a:ea typeface="Georgia"/>
              </a:rPr>
              <a:t>Ciclo iterativo em 11 sprints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816120" y="1968840"/>
            <a:ext cx="3379680" cy="2404800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 w="6350">
            <a:solidFill>
              <a:srgbClr val="e0dc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104616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7a62"/>
                </a:solidFill>
                <a:latin typeface="Helvetica Neue"/>
                <a:ea typeface="Helvetica Neue"/>
              </a:rPr>
              <a:t>Ciclo e cronograma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046160" y="2562120"/>
            <a:ext cx="30067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Iterativo e incremental, em sprints de 7 dias (quarta a terça), com Scrum e XP.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1046160" y="3397680"/>
            <a:ext cx="30067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Sprints 1 a 5: documentação. Sprints 6 a 11: desenvolvimento, com entrega final em 01/12.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4405680" y="1968840"/>
            <a:ext cx="3379680" cy="2404800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 w="6350">
            <a:solidFill>
              <a:srgbClr val="e0dc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463608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7a62"/>
                </a:solidFill>
                <a:latin typeface="Helvetica Neue"/>
                <a:ea typeface="Helvetica Neue"/>
              </a:rPr>
              <a:t>Riscos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4636080" y="2562120"/>
            <a:ext cx="3006720" cy="10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7 riscos mapeados, 5 de exposição alta: escopo grande, inexperiência técnica, UX e dependência de hipóteses.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4636080" y="3646440"/>
            <a:ext cx="300672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Cada risco tem mitigação e contingência.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0"/>
          <p:cNvSpPr/>
          <p:nvPr/>
        </p:nvSpPr>
        <p:spPr>
          <a:xfrm>
            <a:off x="7995600" y="1968840"/>
            <a:ext cx="3379680" cy="2404800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 w="6350">
            <a:solidFill>
              <a:srgbClr val="e0dc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822600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7a62"/>
                </a:solidFill>
                <a:latin typeface="Helvetica Neue"/>
                <a:ea typeface="Helvetica Neue"/>
              </a:rPr>
              <a:t>Replanejamento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8226000" y="2562120"/>
            <a:ext cx="3006720" cy="12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Acontece quando menos de 70% da sprint é concluído, um risco alto se concretiza, a equipe perde capacidade, um Must muda ou uma entrega é rejeitada.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812880" y="6238080"/>
            <a:ext cx="78480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VolunJá · Equipe Gosling · MDS 2026.2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10058400" y="6238080"/>
            <a:ext cx="13201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3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19"/>
          <p:cNvSpPr/>
          <p:nvPr/>
        </p:nvSpPr>
        <p:spPr>
          <a:xfrm>
            <a:off x="812880" y="81288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9501a"/>
                </a:solidFill>
                <a:latin typeface="Helvetica Neue"/>
                <a:ea typeface="Helvetica Neue"/>
              </a:rPr>
              <a:t>2 · Visão geral do projeto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16840" y="1260000"/>
            <a:ext cx="108828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521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d2733"/>
                </a:solidFill>
                <a:latin typeface="Georgia"/>
                <a:ea typeface="Georgia"/>
              </a:rPr>
              <a:t>Tabela de </a:t>
            </a:r>
            <a:r>
              <a:rPr b="1" lang="en-US" sz="3200" spc="-1" strike="noStrike">
                <a:solidFill>
                  <a:srgbClr val="1d2733"/>
                </a:solidFill>
                <a:latin typeface="Georgia"/>
                <a:ea typeface="Georgia"/>
              </a:rPr>
              <a:t>riscos do </a:t>
            </a:r>
            <a:r>
              <a:rPr b="1" lang="en-US" sz="3200" spc="-1" strike="noStrike">
                <a:solidFill>
                  <a:srgbClr val="1d2733"/>
                </a:solidFill>
                <a:latin typeface="Georgia"/>
                <a:ea typeface="Georgia"/>
              </a:rPr>
              <a:t>projeto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104616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1046160" y="2562120"/>
            <a:ext cx="3006720" cy="10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463608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4"/>
          <p:cNvSpPr/>
          <p:nvPr/>
        </p:nvSpPr>
        <p:spPr>
          <a:xfrm>
            <a:off x="4636080" y="2562120"/>
            <a:ext cx="3006720" cy="10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822600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8226000" y="2562120"/>
            <a:ext cx="30067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7"/>
          <p:cNvSpPr/>
          <p:nvPr/>
        </p:nvSpPr>
        <p:spPr>
          <a:xfrm>
            <a:off x="8226000" y="3397680"/>
            <a:ext cx="30067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8"/>
          <p:cNvSpPr/>
          <p:nvPr/>
        </p:nvSpPr>
        <p:spPr>
          <a:xfrm>
            <a:off x="812880" y="6238080"/>
            <a:ext cx="78480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VolunJá · Equipe Gosling · MDS 2026.2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10058400" y="6238080"/>
            <a:ext cx="13201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540000" y="1923120"/>
            <a:ext cx="11162880" cy="365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812880" y="81288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9501a"/>
                </a:solidFill>
                <a:latin typeface="Helvetica Neue"/>
                <a:ea typeface="Helvetica Neue"/>
              </a:rPr>
              <a:t>3 · Processo de desenvolvimento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8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521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d2733"/>
                </a:solidFill>
                <a:latin typeface="Georgia"/>
                <a:ea typeface="Georgia"/>
              </a:rPr>
              <a:t>Scrum adaptado com práticas de XP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816120" y="1968840"/>
            <a:ext cx="3379680" cy="2404800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 w="6350">
            <a:solidFill>
              <a:srgbClr val="e0dc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104616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7a62"/>
                </a:solidFill>
                <a:latin typeface="Helvetica Neue"/>
                <a:ea typeface="Helvetica Neue"/>
              </a:rPr>
              <a:t>Scrum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1046160" y="2562120"/>
            <a:ext cx="3006720" cy="10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Refinamento, planejamento, design de interface, desenvolvimento, verificação, revisão e retrospectiva a cada sprint.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4405680" y="1968840"/>
            <a:ext cx="3379680" cy="2404800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 w="6350">
            <a:solidFill>
              <a:srgbClr val="e0dc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463608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7a62"/>
                </a:solidFill>
                <a:latin typeface="Helvetica Neue"/>
                <a:ea typeface="Helvetica Neue"/>
              </a:rPr>
              <a:t>XP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4636080" y="2562120"/>
            <a:ext cx="3006720" cy="10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Programação em par, código coletivo, integração contínua, refatoração, testes automatizados e ritmo sustentável.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7995600" y="1968840"/>
            <a:ext cx="3379680" cy="2404800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 w="6350">
            <a:solidFill>
              <a:srgbClr val="e0dc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822600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7a62"/>
                </a:solidFill>
                <a:latin typeface="Helvetica Neue"/>
                <a:ea typeface="Helvetica Neue"/>
              </a:rPr>
              <a:t>Preparado e pronto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8226000" y="2562120"/>
            <a:ext cx="30067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DoR:</a:t>
            </a: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 critérios de aceitação, prioridade MoSCoW e cenário definidos.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8226000" y="3397680"/>
            <a:ext cx="30067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DoD:</a:t>
            </a: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 pull request revisado na developer, testes passando e roteiro de testes cumprido.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812880" y="6238080"/>
            <a:ext cx="78480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VolunJá · Equipe Gosling · MDS 2026.2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10058400" y="6238080"/>
            <a:ext cx="13201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5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1"/>
          <p:cNvSpPr/>
          <p:nvPr/>
        </p:nvSpPr>
        <p:spPr>
          <a:xfrm>
            <a:off x="812880" y="81288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9501a"/>
                </a:solidFill>
                <a:latin typeface="Helvetica Neue"/>
                <a:ea typeface="Helvetica Neue"/>
              </a:rPr>
              <a:t>3 · Processo de desenvolvimento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8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521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d2733"/>
                </a:solidFill>
                <a:latin typeface="Georgia"/>
                <a:ea typeface="Georgia"/>
              </a:rPr>
              <a:t>Ciclo de vida </a:t>
            </a:r>
            <a:r>
              <a:rPr b="1" lang="en-US" sz="3200" spc="-1" strike="noStrike">
                <a:solidFill>
                  <a:srgbClr val="1d2733"/>
                </a:solidFill>
                <a:latin typeface="Georgia"/>
                <a:ea typeface="Georgia"/>
              </a:rPr>
              <a:t>do projeto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36"/>
          <p:cNvSpPr/>
          <p:nvPr/>
        </p:nvSpPr>
        <p:spPr>
          <a:xfrm>
            <a:off x="812880" y="6238080"/>
            <a:ext cx="78480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VolunJá · Equipe Gosling · MDS 2026.2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37"/>
          <p:cNvSpPr/>
          <p:nvPr/>
        </p:nvSpPr>
        <p:spPr>
          <a:xfrm>
            <a:off x="10058400" y="6238080"/>
            <a:ext cx="13201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6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69840" y="1334880"/>
            <a:ext cx="12191760" cy="422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30"/>
          <p:cNvSpPr/>
          <p:nvPr/>
        </p:nvSpPr>
        <p:spPr>
          <a:xfrm>
            <a:off x="812880" y="81288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9501a"/>
                </a:solidFill>
                <a:latin typeface="Helvetica Neue"/>
                <a:ea typeface="Helvetica Neue"/>
              </a:rPr>
              <a:t>3 · Processo de desenvolvimento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8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521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d2733"/>
                </a:solidFill>
                <a:latin typeface="Georgia"/>
                <a:ea typeface="Georgia"/>
              </a:rPr>
              <a:t>Fluxo de trabalho do projeto: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31"/>
          <p:cNvSpPr/>
          <p:nvPr/>
        </p:nvSpPr>
        <p:spPr>
          <a:xfrm>
            <a:off x="812880" y="6238080"/>
            <a:ext cx="78480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VolunJá · Equipe Gosling · MDS </a:t>
            </a: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2026.2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2"/>
          <p:cNvSpPr/>
          <p:nvPr/>
        </p:nvSpPr>
        <p:spPr>
          <a:xfrm>
            <a:off x="10058400" y="6238080"/>
            <a:ext cx="13201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7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812880" y="1761840"/>
            <a:ext cx="10281600" cy="450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812880" y="81288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068"/>
                </a:solidFill>
                <a:latin typeface="Helvetica Neue"/>
                <a:ea typeface="Helvetica Neue"/>
              </a:rPr>
              <a:t>4 · Declaração de escopo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8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521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6f3ec"/>
                </a:solidFill>
                <a:latin typeface="Georgia"/>
                <a:ea typeface="Georgia"/>
              </a:rPr>
              <a:t>Escopo e backlog priorizado com MoSCoW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816120" y="1968840"/>
            <a:ext cx="3379680" cy="2067120"/>
          </a:xfrm>
          <a:prstGeom prst="roundRect">
            <a:avLst>
              <a:gd name="adj" fmla="val 4760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104616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fd1b4"/>
                </a:solidFill>
                <a:latin typeface="Helvetica Neue"/>
                <a:ea typeface="Helvetica Neue"/>
              </a:rPr>
              <a:t>Escopo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1046160" y="2562120"/>
            <a:ext cx="3006720" cy="12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ONGs cadastram vagas padronizadas. Voluntários buscam, se candidatam com documentos e recebem comprovante. A plataforma conecta as duas partes.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5"/>
          <p:cNvSpPr/>
          <p:nvPr/>
        </p:nvSpPr>
        <p:spPr>
          <a:xfrm>
            <a:off x="4405680" y="1968840"/>
            <a:ext cx="3379680" cy="2067120"/>
          </a:xfrm>
          <a:prstGeom prst="roundRect">
            <a:avLst>
              <a:gd name="adj" fmla="val 4760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463608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fd1b4"/>
                </a:solidFill>
                <a:latin typeface="Helvetica Neue"/>
                <a:ea typeface="Helvetica Neue"/>
              </a:rPr>
              <a:t>Perfis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4636080" y="2562120"/>
            <a:ext cx="30067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Visitante, Voluntário, ONG e Administrador. As contas de voluntário e de ONG são exclusivas.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7995600" y="1968840"/>
            <a:ext cx="3379680" cy="2067120"/>
          </a:xfrm>
          <a:prstGeom prst="roundRect">
            <a:avLst>
              <a:gd name="adj" fmla="val 4760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822600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fd1b4"/>
                </a:solidFill>
                <a:latin typeface="Helvetica Neue"/>
                <a:ea typeface="Helvetica Neue"/>
              </a:rPr>
              <a:t>Backlog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0"/>
          <p:cNvSpPr/>
          <p:nvPr/>
        </p:nvSpPr>
        <p:spPr>
          <a:xfrm>
            <a:off x="8226000" y="2562120"/>
            <a:ext cx="3006720" cy="10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9 cenários, 25 requisitos funcionais e 7 não funcionais. Must forma o MVP; Could é o primeiro a sair no replanejamento.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812880" y="426852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068"/>
                </a:solidFill>
                <a:latin typeface="Helvetica Neue"/>
                <a:ea typeface="Helvetica Neue"/>
              </a:rPr>
              <a:t>Caminho do MVP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816120" y="4749120"/>
            <a:ext cx="1984320" cy="804960"/>
          </a:xfrm>
          <a:prstGeom prst="roundRect">
            <a:avLst>
              <a:gd name="adj" fmla="val 12218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125280" bIns="125280" anchor="t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Publica a vaga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2959560" y="4749120"/>
            <a:ext cx="1984320" cy="804960"/>
          </a:xfrm>
          <a:prstGeom prst="roundRect">
            <a:avLst>
              <a:gd name="adj" fmla="val 12218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125280" bIns="125280" anchor="t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Busca por filtros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5103360" y="4749120"/>
            <a:ext cx="1984320" cy="804960"/>
          </a:xfrm>
          <a:prstGeom prst="roundRect">
            <a:avLst>
              <a:gd name="adj" fmla="val 12218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125280" bIns="125280" anchor="t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Candidatura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7247160" y="4749120"/>
            <a:ext cx="1984320" cy="804960"/>
          </a:xfrm>
          <a:prstGeom prst="roundRect">
            <a:avLst>
              <a:gd name="adj" fmla="val 12218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125280" bIns="125280" anchor="t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Triagem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9390960" y="4749120"/>
            <a:ext cx="1984320" cy="804960"/>
          </a:xfrm>
          <a:prstGeom prst="roundRect">
            <a:avLst>
              <a:gd name="adj" fmla="val 12218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125280" bIns="99720" anchor="t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3ec"/>
                </a:solidFill>
                <a:latin typeface="Helvetica Neue"/>
                <a:ea typeface="Helvetica Neue"/>
              </a:rPr>
              <a:t>Comprovante e contato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812880" y="6238080"/>
            <a:ext cx="78480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ebccb"/>
                </a:solidFill>
                <a:latin typeface="Helvetica Neue"/>
                <a:ea typeface="Helvetica Neue"/>
              </a:rPr>
              <a:t>VolunJá · Equipe Gosling · MDS 2026.2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10058400" y="6238080"/>
            <a:ext cx="13201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ebccb"/>
                </a:solidFill>
                <a:latin typeface="Helvetica Neue"/>
                <a:ea typeface="Helvetica Neue"/>
              </a:rPr>
              <a:t>8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812880" y="812880"/>
            <a:ext cx="108828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b9501a"/>
                </a:solidFill>
                <a:latin typeface="Helvetica Neue"/>
                <a:ea typeface="Helvetica Neue"/>
              </a:rPr>
              <a:t>5 · Métricas e medições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12880" y="1222560"/>
            <a:ext cx="10882800" cy="3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574"/>
              </a:lnSpc>
              <a:buNone/>
              <a:tabLst>
                <a:tab algn="l" pos="0"/>
              </a:tabLst>
            </a:pPr>
            <a:r>
              <a:rPr b="1" lang="en-US" sz="2340" spc="-1" strike="noStrike">
                <a:solidFill>
                  <a:srgbClr val="1d2733"/>
                </a:solidFill>
                <a:latin typeface="Georgia"/>
                <a:ea typeface="Georgia"/>
              </a:rPr>
              <a:t>GQM: 2 </a:t>
            </a:r>
            <a:r>
              <a:rPr b="1" lang="en-US" sz="2340" spc="-1" strike="noStrike">
                <a:solidFill>
                  <a:srgbClr val="1d2733"/>
                </a:solidFill>
                <a:latin typeface="Georgia"/>
                <a:ea typeface="Georgia"/>
              </a:rPr>
              <a:t>objetivos e 6 </a:t>
            </a:r>
            <a:r>
              <a:rPr b="1" lang="en-US" sz="2340" spc="-1" strike="noStrike">
                <a:solidFill>
                  <a:srgbClr val="1d2733"/>
                </a:solidFill>
                <a:latin typeface="Georgia"/>
                <a:ea typeface="Georgia"/>
              </a:rPr>
              <a:t>métricas</a:t>
            </a:r>
            <a:endParaRPr b="0" lang="pt-BR" sz="2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812880" y="1776240"/>
            <a:ext cx="108828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M1 a M3 acompanham o projeto; M4 a M6 avaliam a qualidade do produto.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0" name="Table 0"/>
          <p:cNvGraphicFramePr/>
          <p:nvPr/>
        </p:nvGraphicFramePr>
        <p:xfrm>
          <a:off x="822240" y="2195640"/>
          <a:ext cx="10556280" cy="3781440"/>
        </p:xfrm>
        <a:graphic>
          <a:graphicData uri="http://schemas.openxmlformats.org/drawingml/2006/table">
            <a:tbl>
              <a:tblPr/>
              <a:tblGrid>
                <a:gridCol w="2639160"/>
                <a:gridCol w="2639160"/>
                <a:gridCol w="2639160"/>
                <a:gridCol w="2639160"/>
              </a:tblGrid>
              <a:tr h="420840">
                <a:tc>
                  <a:txBody>
                    <a:bodyPr lIns="101520" rIns="101520" anchor="t">
                      <a:noAutofit/>
                    </a:bodyPr>
                    <a:p>
                      <a:endParaRPr b="0" lang="en-US" sz="1310" spc="-1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b6b4af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b6b4af"/>
                      </a:solidFill>
                      <a:prstDash val="soli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1" lang="en-US" sz="1310" spc="-1" strike="noStrike">
                          <a:solidFill>
                            <a:srgbClr val="177a62"/>
                          </a:solidFill>
                          <a:latin typeface="Helvetica Neue"/>
                          <a:ea typeface="Helvetica Neue"/>
                        </a:rPr>
                        <a:t>Métrica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b6b4af"/>
                      </a:solidFill>
                      <a:prstDash val="solid"/>
                    </a:lnL>
                    <a:lnR w="12240">
                      <a:solidFill>
                        <a:srgbClr val="b6b4af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b6b4af"/>
                      </a:solidFill>
                      <a:prstDash val="soli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1" lang="en-US" sz="1310" spc="-1" strike="noStrike">
                          <a:solidFill>
                            <a:srgbClr val="177a62"/>
                          </a:solidFill>
                          <a:latin typeface="Helvetica Neue"/>
                          <a:ea typeface="Helvetica Neue"/>
                        </a:rPr>
                        <a:t>Cálculo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b6b4af"/>
                      </a:solidFill>
                      <a:prstDash val="solid"/>
                    </a:lnL>
                    <a:lnR w="12240">
                      <a:solidFill>
                        <a:srgbClr val="b6b4af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b6b4af"/>
                      </a:solidFill>
                      <a:prstDash val="soli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1" lang="en-US" sz="1310" spc="-1" strike="noStrike">
                          <a:solidFill>
                            <a:srgbClr val="177a62"/>
                          </a:solidFill>
                          <a:latin typeface="Helvetica Neue"/>
                          <a:ea typeface="Helvetica Neue"/>
                        </a:rPr>
                        <a:t>Meta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b6b4af"/>
                      </a:solidFill>
                      <a:prstDash val="solid"/>
                    </a:lnL>
                    <a:lnR w="12240">
                      <a:solidFill>
                        <a:srgbClr val="b6b4af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b6b4af"/>
                      </a:solidFill>
                      <a:prstDash val="solid"/>
                    </a:lnB>
                    <a:solidFill>
                      <a:srgbClr val="e4e1db"/>
                    </a:solidFill>
                  </a:tcPr>
                </a:tc>
              </a:tr>
              <a:tr h="653760"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M1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b6b4af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Aderência ao planejado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b6b4af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Itens concluídos ÷ comprometidos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b6b4af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≥ </a:t>
                      </a: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70%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b6b4af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420840"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M2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Velocidade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Pontos concluídos por sprint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Variação ≤ 20% desde a Sprint 7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653760"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M3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Contribuições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Commits e PRs revisados por integrante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Ninguém abaixo da metade da média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420840"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M4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Cobertura de testes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Linhas cobertas ÷ totais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≥ </a:t>
                      </a: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80%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420840"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M5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Densidade de defeitos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Defeitos ÷ pontos entregues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Decrescente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653760"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M6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Sucesso em tarefa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Participantes que concluem busca e candidatura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1520" rIns="101520" anchor="t">
                      <a:noAutofit/>
                    </a:bodyPr>
                    <a:p>
                      <a:pPr defTabSz="914400">
                        <a:lnSpc>
                          <a:spcPts val="1834"/>
                        </a:lnSpc>
                        <a:tabLst>
                          <a:tab algn="l" pos="0"/>
                        </a:tabLst>
                      </a:pP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≥ </a:t>
                      </a:r>
                      <a:r>
                        <a:rPr b="0" lang="en-US" sz="1310" spc="-1" strike="noStrike">
                          <a:solidFill>
                            <a:srgbClr val="1d2733"/>
                          </a:solidFill>
                          <a:latin typeface="Helvetica Neue"/>
                          <a:ea typeface="Helvetica Neue"/>
                        </a:rPr>
                        <a:t>80%</a:t>
                      </a:r>
                      <a:endParaRPr b="0" lang="pt-BR" sz="13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1" name="Text 3"/>
          <p:cNvSpPr/>
          <p:nvPr/>
        </p:nvSpPr>
        <p:spPr>
          <a:xfrm>
            <a:off x="812880" y="6238080"/>
            <a:ext cx="78480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VolunJá · Equipe Gosling · MDS 2026.2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10058400" y="6238080"/>
            <a:ext cx="13201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9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812880" y="81288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9501a"/>
                </a:solidFill>
                <a:latin typeface="Helvetica Neue"/>
                <a:ea typeface="Helvetica Neue"/>
              </a:rPr>
              <a:t>6 · Testes de software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8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521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d2733"/>
                </a:solidFill>
                <a:latin typeface="Georgia"/>
                <a:ea typeface="Georgia"/>
              </a:rPr>
              <a:t>Estratégia de testes e roteiro do MVP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816120" y="1968840"/>
            <a:ext cx="3379680" cy="1818360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 w="6350">
            <a:solidFill>
              <a:srgbClr val="e0dc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104616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7a62"/>
                </a:solidFill>
                <a:latin typeface="Helvetica Neue"/>
                <a:ea typeface="Helvetica Neue"/>
              </a:rPr>
              <a:t>Estratégia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1046160" y="2562120"/>
            <a:ext cx="3006720" cy="10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6666" lnSpcReduction="20000"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Níveis unitário, integração e sistema. Testes funcionais e não funcionais: usabilidade, responsividade e controle de acesso.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4405680" y="1968840"/>
            <a:ext cx="3379680" cy="1818360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 w="6350">
            <a:solidFill>
              <a:srgbClr val="e0dc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463608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7a62"/>
                </a:solidFill>
                <a:latin typeface="Helvetica Neue"/>
                <a:ea typeface="Helvetica Neue"/>
              </a:rPr>
              <a:t>Automação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4636080" y="2562120"/>
            <a:ext cx="30067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Ruff e ESLint, pytest e pytest-cov no backend, React Testing Library, Playwright e axe-core para UX.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7995600" y="1968840"/>
            <a:ext cx="3379680" cy="1818360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 w="6350">
            <a:solidFill>
              <a:srgbClr val="e0dc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8226000" y="2199240"/>
            <a:ext cx="30067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7a62"/>
                </a:solidFill>
                <a:latin typeface="Helvetica Neue"/>
                <a:ea typeface="Helvetica Neue"/>
              </a:rPr>
              <a:t>Roteiro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8226000" y="2562120"/>
            <a:ext cx="3006720" cy="10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Sete casos, CT01 a CT07: cadastro, publicação de vaga, busca, candidatura, triagem, acesso por perfil e usabilidade.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812880" y="401976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733"/>
                </a:solidFill>
                <a:latin typeface="Helvetica Neue"/>
                <a:ea typeface="Helvetica Neue"/>
              </a:rPr>
              <a:t>Se o resultado obtido difere do previsto, o teste falha; o defeito é corrigido e retestado, e alimenta a métrica M5.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812880" y="6238080"/>
            <a:ext cx="78480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VolunJá · Equipe Gosling · MDS 2026.2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10058400" y="6238080"/>
            <a:ext cx="13201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672"/>
                </a:solidFill>
                <a:latin typeface="Helvetica Neue"/>
                <a:ea typeface="Helvetica Neue"/>
              </a:rPr>
              <a:t>10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812880" y="225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>
              <a:buNone/>
            </a:pPr>
            <a:r>
              <a:rPr lang="pt-BR" sz="1400" b="1" spc="100">
                <a:solidFill>
                  <a:srgbClr val="f2a068"/>
                </a:solidFill>
                <a:latin typeface="Helvetica Neue"/>
                <a:ea typeface="Helvetica Neue"/>
              </a:rPr>
              <a:t>MDS 2026.2 · Documento de visão</a:t>
            </a:r>
          </a:p>
        </p:txBody>
      </p:sp>
      <p:sp>
        <p:nvSpPr>
          <p:cNvPr id="3" name="Título"/>
          <p:cNvSpPr>
            <a:spLocks noGrp="1"/>
          </p:cNvSpPr>
          <p:nvPr>
            <p:ph type="title"/>
          </p:nvPr>
        </p:nvSpPr>
        <p:spPr>
          <a:xfrm>
            <a:off x="812880" y="2650000"/>
            <a:ext cx="62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indent="0">
              <a:buNone/>
            </a:pPr>
            <a:r>
              <a:rPr lang="pt-BR" sz="7200" b="1" spc="0">
                <a:solidFill>
                  <a:srgbClr val="f6f3ec"/>
                </a:solidFill>
                <a:latin typeface="Georgia"/>
                <a:ea typeface="Georgia"/>
              </a:rPr>
              <a:t>VolunJá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812880" y="400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>
              <a:buNone/>
            </a:pPr>
            <a:r>
              <a:rPr lang="pt-BR" sz="2400" b="0" spc="0">
                <a:solidFill>
                  <a:srgbClr val="6fd1b4"/>
                </a:solidFill>
                <a:latin typeface="Helvetica Neue"/>
                <a:ea typeface="Helvetica Neue"/>
              </a:rPr>
              <a:t>Conectando voluntários e ONGs</a:t>
            </a:r>
          </a:p>
        </p:txBody>
      </p:sp>
      <p:sp>
        <p:nvSpPr>
          <p:cNvPr id="5" name="Rodapé"/>
          <p:cNvSpPr txBox="1"/>
          <p:nvPr/>
        </p:nvSpPr>
        <p:spPr>
          <a:xfrm>
            <a:off x="812880" y="5850000"/>
            <a:ext cx="6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>
              <a:buNone/>
            </a:pPr>
            <a:r>
              <a:rPr lang="pt-BR" sz="1200" b="0" spc="0">
                <a:solidFill>
                  <a:srgbClr val="9fb0c2"/>
                </a:solidFill>
                <a:latin typeface="Helvetica Neue"/>
                <a:ea typeface="Helvetica Neue"/>
              </a:rPr>
              <a:t>Equipe Gosling · MDS 2026.2</a:t>
            </a:r>
          </a:p>
        </p:txBody>
      </p:sp>
      <p:sp>
        <p:nvSpPr>
          <p:cNvPr id="6" name="Círculo voluntários"/>
          <p:cNvSpPr/>
          <p:nvPr/>
        </p:nvSpPr>
        <p:spPr>
          <a:xfrm>
            <a:off x="7300000" y="2150000"/>
            <a:ext cx="2600000" cy="2600000"/>
          </a:xfrm>
          <a:prstGeom prst="ellipse">
            <a:avLst/>
          </a:prstGeom>
          <a:solidFill>
            <a:srgbClr val="6fd1b4">
              <a:alpha val="25000"/>
            </a:srgbClr>
          </a:solidFill>
          <a:ln w="19050">
            <a:solidFill>
              <a:srgbClr val="6fd1b4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" name="Círculo voluntários rótulo"/>
          <p:cNvSpPr txBox="1"/>
          <p:nvPr/>
        </p:nvSpPr>
        <p:spPr>
          <a:xfrm>
            <a:off x="7350000" y="3270000"/>
            <a:ext cx="16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indent="0">
              <a:buNone/>
            </a:pPr>
            <a:r>
              <a:rPr lang="pt-BR" sz="1600" b="1" spc="0">
                <a:solidFill>
                  <a:srgbClr val="f6f3ec"/>
                </a:solidFill>
                <a:latin typeface="Helvetica Neue"/>
                <a:ea typeface="Helvetica Neue"/>
              </a:rPr>
              <a:t>Voluntários</a:t>
            </a:r>
          </a:p>
        </p:txBody>
      </p:sp>
      <p:sp>
        <p:nvSpPr>
          <p:cNvPr id="8" name="Círculo ONGs"/>
          <p:cNvSpPr/>
          <p:nvPr/>
        </p:nvSpPr>
        <p:spPr>
          <a:xfrm>
            <a:off x="9000000" y="2150000"/>
            <a:ext cx="2600000" cy="2600000"/>
          </a:xfrm>
          <a:prstGeom prst="ellipse">
            <a:avLst/>
          </a:prstGeom>
          <a:solidFill>
            <a:srgbClr val="f2a068">
              <a:alpha val="25000"/>
            </a:srgbClr>
          </a:solidFill>
          <a:ln w="19050">
            <a:solidFill>
              <a:srgbClr val="f2a06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" name="Círculo ONGs rótulo"/>
          <p:cNvSpPr txBox="1"/>
          <p:nvPr/>
        </p:nvSpPr>
        <p:spPr>
          <a:xfrm>
            <a:off x="9950000" y="3270000"/>
            <a:ext cx="16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indent="0">
              <a:buNone/>
            </a:pPr>
            <a:r>
              <a:rPr lang="pt-BR" sz="1600" b="1" spc="0">
                <a:solidFill>
                  <a:srgbClr val="f6f3ec"/>
                </a:solidFill>
                <a:latin typeface="Helvetica Neue"/>
                <a:ea typeface="Helvetica Neue"/>
              </a:rPr>
              <a:t>ONGs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olunJá – Visão do Produto e do Projeto">
  <a:themeElements>
    <a:clrScheme name="VolunJá – Visão do Produto e do Projeto">
      <a:dk1>
        <a:srgbClr val="1d2733"/>
      </a:dk1>
      <a:lt1>
        <a:srgbClr val="f6f3ec"/>
      </a:lt1>
      <a:dk2>
        <a:srgbClr val="535a61"/>
      </a:dk2>
      <a:lt2>
        <a:srgbClr val="e0dfda"/>
      </a:lt2>
      <a:accent1>
        <a:srgbClr val="22384f"/>
      </a:accent1>
      <a:accent2>
        <a:srgbClr val="177a62"/>
      </a:accent2>
      <a:accent3>
        <a:srgbClr val="6fd1b4"/>
      </a:accent3>
      <a:accent4>
        <a:srgbClr val="b9501a"/>
      </a:accent4>
      <a:accent5>
        <a:srgbClr val="f2a068"/>
      </a:accent5>
      <a:accent6>
        <a:srgbClr val="5b6672"/>
      </a:accent6>
      <a:hlink>
        <a:srgbClr val="0563c1"/>
      </a:hlink>
      <a:folHlink>
        <a:srgbClr val="954f72"/>
      </a:folHlink>
    </a:clrScheme>
    <a:fontScheme name="VolunJá – Visão do Produto e do Projeto">
      <a:majorFont>
        <a:latin typeface="Helvetica Neue" pitchFamily="0" charset="1"/>
        <a:ea typeface=""/>
        <a:cs typeface=""/>
      </a:majorFont>
      <a:minorFont>
        <a:latin typeface="Helvetica Neu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olunJá – Visão do Produto e do Projeto">
  <a:themeElements>
    <a:clrScheme name="VolunJá – Visão do Produto e do Projeto">
      <a:dk1>
        <a:srgbClr val="1d2733"/>
      </a:dk1>
      <a:lt1>
        <a:srgbClr val="f6f3ec"/>
      </a:lt1>
      <a:dk2>
        <a:srgbClr val="535a61"/>
      </a:dk2>
      <a:lt2>
        <a:srgbClr val="e0dfda"/>
      </a:lt2>
      <a:accent1>
        <a:srgbClr val="22384f"/>
      </a:accent1>
      <a:accent2>
        <a:srgbClr val="177a62"/>
      </a:accent2>
      <a:accent3>
        <a:srgbClr val="6fd1b4"/>
      </a:accent3>
      <a:accent4>
        <a:srgbClr val="b9501a"/>
      </a:accent4>
      <a:accent5>
        <a:srgbClr val="f2a068"/>
      </a:accent5>
      <a:accent6>
        <a:srgbClr val="5b6672"/>
      </a:accent6>
      <a:hlink>
        <a:srgbClr val="0563c1"/>
      </a:hlink>
      <a:folHlink>
        <a:srgbClr val="954f72"/>
      </a:folHlink>
    </a:clrScheme>
    <a:fontScheme name="VolunJá – Visão do Produto e do Projeto">
      <a:majorFont>
        <a:latin typeface="Helvetica Neue" pitchFamily="0" charset="1"/>
        <a:ea typeface=""/>
        <a:cs typeface=""/>
      </a:majorFont>
      <a:minorFont>
        <a:latin typeface="Helvetica Neu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2026-10-14T20:37:54Z</dcterms:created>
  <dc:creator/>
  <dc:description/>
  <dc:language>pt-BR</dc:language>
  <cp:lastModifiedBy/>
  <dcterms:modified xsi:type="dcterms:W3CDTF">2026-10-14T18:42:25Z</dcterms:modified>
  <cp:revision>3</cp:revision>
  <dc:subject/>
  <dc:title>VolunJá – Visão do Produto e do Projeto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