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7"/>
  </p:notesMasterIdLst>
  <p:sldIdLst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8" d="100"/>
          <a:sy n="148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mover o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Clique para editar o formato de notas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&lt;cabeçalho&gt;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&lt;data/hora&gt;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&lt;rodapé&gt;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B71AD4C-3068-4194-88D1-FA8FA4A18AA0}" type="slidenum">
              <a:rPr lang="pt-BR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Documento de Arquitetura registra as decisões e a aplicação planejada das tecnologias do VolunJá. A apresentação percorre a escolha do estilo, as visões de uso, lógica, estrutural e de implantação, as regras de segurança, a estratégia de testes e o processo de implementação. Calendário e consistência de horários fazem parte do escopo junto com os demais requisitos. As metas e ferramentas apresentadas são as previstas nos documentos, não resultados de uma implementação já concluída.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versão 0.3, seções 1 e 2; docs/visão.md, seções 3 e 6.</a:t>
            </a:r>
            <a:endParaRPr lang="pt-BR" sz="120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pPr indent="0" algn="r">
              <a:buNone/>
            </a:pPr>
            <a:fld id="{7B71AD4C-3068-4194-88D1-FA8FA4A18AA0}" type="slidenum">
              <a:rPr lang="pt-BR" sz="1400" b="0" strike="noStrike" spc="-1" smtClean="0">
                <a:solidFill>
                  <a:srgbClr val="000000"/>
                </a:solidFill>
                <a:latin typeface="Times New Roman"/>
              </a:rPr>
              <a:t>1</a:t>
            </a:fld>
            <a:endParaRPr lang="pt-BR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8541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decisão combina cliente-servidor, SPA e organização em camadas com um back-end implantado como monólito modular. O documento compara renderização no servidor, microsserviços, BaaS e a solução escolhida. MVC simplificaria a implantação, mas acoplaria a interface e não aproveitaria o React definido no Documento de Visão. Microsserviços ofereceriam implantação independente, porém exigiriam rede e monitoramento desproporcionais ao prazo e à equipe. BaaS não aproveitaria o Python adotado e acrescentaria dependência do fornecedor. A opção escolhida mantém uma única API implantável, módulos de domínio e responsabilidades separadas. Há o custo de manter duas bases de código e configurar o proxy reverso. A API OpenAPI permite que o front-end e o back-end trabalhem com as mesmas entradas e saídas.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seções 2.1 e 2.2, Quadro 1; docs/visão.md, Quadro 5 e planejamento das Sprints 6 a 11.</a:t>
            </a:r>
            <a:endParaRPr lang="pt-BR" sz="1200"/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97E8F8-A9C4-4B8B-8F23-EBFCA02DD2A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Figura 1 agrupa cinco camadas em três blocos: cliente, aplicação e dados. A SPA é a apresentação. No servidor, a API reúne routers, schemas e dependências, a camada de negócio reúne os services e a persistência reúne repositories e models. A camada de dados contém MySQL e armazenamento de arquivos. Nginx é o ponto de entrada e entrega o build da SPA, encaminhando /api ao Uvicorn. Somente repositories usam a sessão SQLAlchemy. Routers chamam services, e services não dependem do HTTP. O core oferece configuração, segurança, sessão de banco, erros e logs. Documentos transitam como multipart/form-data e o comprovante retorna em PDF. Esses limites tornam as regras testáveis sem precisar executar navegador, rede e banco em todos os testes.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seção 2.3, Quadros 2 e 3. Diagrama original: docs/assets/arquitetura/figura1 arquitetura.png.</a:t>
            </a:r>
            <a:endParaRPr lang="pt-BR" sz="1200"/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5F7F8-054A-42D9-AA0E-F6FBD74D2FF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 e JavaScript foram definidos pela equipe no Documento de Visão. Componentes reutilizáveis favorecem a consistência e as mudanças de interface após os testes de usabilidade. Vite oferece recarga rápida e gera o build. React Router organiza páginas por rota e perfil. Axios concentra chamadas HTTP e o cabeçalho Authorization. FastAPI foi escolhido pela curva de aprendizado, dependências para autenticação e testes e documentação OpenAPI automática. Pydantic v2 define e valida os contratos de entrada e saída. Python 3.12 implementa as classes de serviço. SQLAlchemy 2.0 mapeia objetos para o MySQL por meio do driver PyMySQL. Alembic mantém cada mudança no esquema versionada. O MySQL 8.4 LTS atende aos relacionamentos entre usuários, vagas, candidaturas e documentos com integridade referencial e unicidade. As justificativas de infraestrutura, arquivos, segurança e testes aparecem nos slides seguintes.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seção 2.3, Quadro 2 e Apêndice A; docs/visão.md, Quadro 5.</a:t>
            </a:r>
            <a:endParaRPr lang="pt-BR" sz="1200"/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97E8F8-A9C4-4B8B-8F23-EBFCA02DD2A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visão de uso apresenta o escopo completo por perfil e relaciona os casos de uso aos requisitos. Visitantes consultam o catálogo público. Voluntários mantêm perfil, candidatam-se com documentos, acompanham e cancelam candidaturas, recebem comprovantes e consultam calendário. Recomendações e histórico também constam do escopo priorizado. Organizações publicam vagas, definem documentação e analisam candidaturas. Após o aceite, o sistema libera o contato. O administrador homologa organizações e trata denúncias. A consulta pública e a navegação dependem da interface, mas as permissões efetivas são verificadas no servidor. Must, Should e Could representam a prioridade do backlog, não uma afirmação de que todas as funções já estão implementadas. Enquanto a homologação Should não estiver implementada, o documento prevê aprovação automática dos cadastros.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seções 1.2, 2.5.1 e 2.7, Quadros 5 e 9. Diagrama original: docs/assets/arquitetura/figura3 casos de uso.png. O rótulo RF26 da figura diz consultar conflitos; no texto do DA, RF26 é a consulta do calendário e RF27 é o bloqueio por conflito.</a:t>
            </a:r>
            <a:endParaRPr lang="pt-BR" sz="1200"/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5F7F8-054A-42D9-AA0E-F6FBD74D2FF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diagrama de pacotes traduz as camadas em uma organização de código repetível. No front-end, app concentra rotas e provedores, pages contém telas por perfil, components contém os elementos reutilizáveis e acessíveis, contexts e hooks compartilham sessão e lógica, services concentra as chamadas HTTP e utils/styles oferece formatação, validações e tema. Chamadas à API ficam em services, não nos componentes. No back-end, main registra os routers e cada módulo possui router.py, schemas.py, service.py, repository.py e models.py. Regras de negócio ficam no service, consultas no repository e contratos no schema. Todos usam o core para configuração, segurança, sessão de banco, erros e logs. Alembic lê os models e versiona as migrações. A estrutura uniforme facilita a mudança de integrante entre módulos e a prática de código coletivo. O calendário é uma consulta do módulo de candidaturas, derivada das ocorrências das vagas.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seção 2.5.2, Quadro 6 e Apêndice A. Diagrama original: docs/assets/arquitetura/figura5 pacotes.png.</a:t>
            </a:r>
            <a:endParaRPr lang="pt-BR" sz="1200"/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5F7F8-054A-42D9-AA0E-F6FBD74D2FF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Figura 6 apresenta componentes de execução e interfaces, complementando o diagrama de pacotes. A SPA requer a API REST, fornecida pelo FastAPI. O back-end requer as interfaces SQL, arquivos e SMTP, fornecidas pelo MySQL, volume persistente e servidor de e-mail. Os módulos se comunicam por services, dentro do mesmo processo. Candidaturas orquestra os serviços de usuários, vagas, documentos, comprovantes e notificações conforme suas responsabilidades. ReportLab materializa o comprovante em PDF. Documentos ficam fora do banco, em volume persistente, acessíveis somente pela API. Isso mantém uma solução simples no MVP e permite trocar o armazenamento sem alterar as demais camadas. SMTP e BackgroundTasks separam o envio de e-mail do tempo de resposta da requisição. Dependências explícitas permitem substituir os colaboradores por dublês nos testes unitários. A representação Calendário no diagrama corresponde à capacidade descrita no DA dentro do módulo de candidaturas, sem serviço implantável independente.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seções 2.3 e 2.5.3, Quadros 2 e 6. Diagrama original: docs/assets/arquitetura/figura6 componentes.png.</a:t>
            </a:r>
            <a:endParaRPr lang="pt-BR" sz="1200"/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5F7F8-054A-42D9-AA0E-F6FBD74D2FF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modelo estrutural vai além da agenda. Usuario reúne os dados de acesso comuns e se especializa em Voluntario e Organizacao de forma disjunta. O administrador é um Usuario com perfil ADMINISTRADOR. Organizacao representa ONG ou responsável por projeto e possui estado de homologação. Vaga contém os campos padronizados, estado e ocorrências com início e fim. Causa é compartilhada pelas vagas, áreas das organizações e interesses dos voluntários, e Disponibilidade registra preferências. Candidatura liga Voluntario e Vaga, com unicidade do par, e controla PENDENTE, ACEITA, RECUSADA e CANCELADA. DocumentoCandidatura atende um DocumentoExigido e o Comprovante possui código de verificação. Notificacao e Denuncia registram comunicação e moderação. OcorrenciaVaga representa os intervalos, e o calendário é derivado das candidaturas ativas e dessas ocorrências. SQLAlchemy mapeia classes para tabelas MySQL, incluindo joined table inheritance para Usuario. Chaves estrangeiras, unicidade e transações preservam integridade. Alembic versiona as mudanças, sem editar o banco manualmente.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seção 2.5.3 e Apêndice A.3. Diagrama original: docs/assets/arquitetura/figura7 classes.png.</a:t>
            </a:r>
            <a:endParaRPr lang="pt-BR" sz="1200"/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5F7F8-054A-42D9-AA0E-F6FBD74D2FF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diagrama de sequência mostra a arquitetura em execução no cenário CN06. O voluntário confirma a candidatura e a SPA envia POST /api/v1/vagas/{id}/candidaturas, com JWT e documentos em multipart. O router valida a sessão e o perfil por dependências do FastAPI. O CandidaturaService consulta a vaga, verifica duplicidade e coordena documentos e persistência. O repository é a fronteira com SQLAlchemy e MySQL. Na revisão 0.3, o service também valida todas as ocorrências antes de gravar e confirma a transação antes de notificar. O bloqueio por voluntário e por vaga protege operações simultâneas e o caminho de conflito retorna 409 sem sucesso parcial. O retorno 201 contém a confirmação e o comprovante. BackgroundTasks executa o envio do e-mail após a resposta. Esse exemplo demonstra o padrão que será aplicado aos demais recursos, como publicação de vaga e manutenção de perfil.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seções 2.3 e 2.5.2, Quadros 3 e 7. Diagrama original: docs/assets/arquitetura/figura2 sequencia candidatura.png. A figura de sequência é a exportação anterior; as validações adicionais da revisão 0.3 estão descritas no texto do DA.</a:t>
            </a:r>
            <a:endParaRPr lang="pt-BR" sz="1200"/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5F7F8-054A-42D9-AA0E-F6FBD74D2FF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 diagrama de atividades apresenta a participação de voluntário, sistema e organização no processo completo. O candidato pode iniciar pela busca pública, mas precisa se autenticar para enviar a candidatura. O sistema exige vaga aberta, impede duplicidade por voluntário e vaga e verifica a documentação exigida. Tipos permitidos são PDF, JPG ou PNG de até 5 MB por arquivo. A consistência dos horários é uma regra adicional do mesmo fluxo. Após o registro pendente, o sistema emite comprovante e notifica a organização. Ela analisa o perfil e os documentos e aceita ou recusa. Apenas o aceite libera os contatos, preservando o controle de dados pessoais. Enquanto a candidatura estiver pendente, o voluntário pode cancelá-la. O cenário reúne documentos, transições de estado, avisos e autorização, por isso o DA o apresenta como a funcionalidade mais complexa. Os fluxos se relacionam aos testes CT04 e CT05, além dos testes de segurança e consistência.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seção 2.5.1 e Quadro 3; docs/visão.md, cenários CN06 a CN08 e Tabela 7. Diagrama original: docs/assets/arquitetura/figura4 atividades candidatura.png.</a:t>
            </a:r>
            <a:endParaRPr lang="pt-BR" sz="1200"/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97E8F8-A9C4-4B8B-8F23-EBFCA02DD2A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aplicação prática acompanha cada cenário do backlog, respeitando as responsabilidades dos diagramas. Primeiro, a equipe alinha o contrato OpenAPI e os schemas Pydantic e cria models e migrações Alembic. Depois implementa repositories e services e expõe os routers, enquanto o front-end constrói telas e componentes sobre o mesmo contrato. CSS Modules isola os estilos e reutiliza tokens do protótipo no Figma. Axios centraliza a comunicação. O back-end usa PEP 8, Ruff com linhas de até 88 caracteres e anotações de tipo em funções públicas. O front-end usa ESLint, plugins react-hooks e jsx-a11y, Prettier e componentes funcionais com hooks. Configurações e segredos ficam em variáveis de ambiente; .env não é versionado e .env.example documenta os campos. A API usa /api/v1, recursos no plural, JSON snake_case, datas ISO 8601 e erros padronizados. Commits seguem Conventional Commits e as branches de trabalho partem de developer. Todo pull request precisa de pelo menos uma revisão, lint e testes aprovados. GitHub Actions automatiza essas verificações e pytest-cov registra a cobertura. Após a revisão da sprint com o P.O., developer integra main. Esse é o processo previsto para implementar o documento e produzir evidências de que cada incremento atende aos critérios de pronto.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Apêndice A.1 a A.4 e Quadro 4; docs/visão.md, seções 3.2, 3.3 e 6.1.</a:t>
            </a:r>
            <a:endParaRPr lang="pt-BR" sz="1200"/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97E8F8-A9C4-4B8B-8F23-EBFCA02DD2A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segurança deve existir no servidor, mesmo quando a interface oculta ações não permitidas. PyJWT implementa tokens JWT e pwdlib aplica o hash Argon2 para as senhas. O documento define expiração do token em 60 minutos, senhas de no mínimo oito caracteres e limitação de tentativas repetidas de login no Nginx. As dependências do FastAPI verificam autenticação e perfil. Services verificam propriedade: por exemplo, se a organização é dona da vaga ou se o voluntário é dono da candidatura. Pydantic valida a entrada, schemas não expõem hash de senha, e o ORM e as permissões de arquivos completam a proteção. Documentos não ficam públicos no Nginx. O administrador não acessa documentos das candidaturas porque não participa dessa relação. O DA prevê coleta mínima de dados, consentimento, exclusão a pedido e uso exclusivo de dados fictícios em testes e apresentações. Essas são as restrições e decisões do projeto, não uma afirmação de conformidade já auditada.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Quadro 2, seção 2.7 e Quadros 8 e 9.</a:t>
            </a:r>
            <a:endParaRPr lang="pt-BR" sz="1200"/>
          </a:p>
        </p:txBody>
      </p:sp>
      <p:sp>
        <p:nvSpPr>
          <p:cNvPr id="12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85F7F8-054A-42D9-AA0E-F6FBD74D2FF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implantação planejada atende à escala acadêmica do MVP sem custo de servidor dedicado. Docker Compose padroniza o ambiente nas máquinas da equipe. Cloudflared abre o túnel da Cloudflare até a máquina de um integrante. Nginx entrega os arquivos estáticos da SPA com cache e compressão, encaminha /api para o FastAPI e mantém cliente e servidor na mesma origem. Uvicorn executa a aplicação ASGI. MySQL 8.4 fica acessível apenas na rede interna do Docker. Os volumes mysql_data e uploads preservam os dados e os documentos entre reinicializações dos contêineres. O provedor SMTP é externo. Essa implantação não oferece garantia formal de disponibilidade contínua, pois depende da máquina da equipe. GitHub Actions roda a integração por pull request. MkDocs e GitHub Pages publicam a documentação de forma independente da aplicação. O comando docker compose up é o critério de portabilidade indicado no DA.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seção 2.6, Quadro 2 e restrições da seção 2.7. Diagrama original: docs/assets/arquitetura/figura8 implantacao.png.</a:t>
            </a:r>
            <a:endParaRPr lang="pt-BR" sz="1200"/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97E8F8-A9C4-4B8B-8F23-EBFCA02DD2A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Os testes são planejados em três níveis. Unitários acompanham funções, services e componentes. pytest testa o back-end e pytest-cov mede cobertura; Vitest e React Testing Library verificam componentes e sua interação com o usuário. O isolamento das camadas permite substituir dependências por dublês. Integração verifica contratos da API, repositories e banco, autorização por perfil e propriedade, transações e concorrência. Os testes de sistema percorrem os cenários completos com Playwright. axe-core apoia a verificação de acessibilidade, com a meta de não haver violações graves e aderência prevista a WCAG 2.1 AA. O roteiro CT01 a CT07 cobre cadastro, publicação, busca, candidatura com documentos, triagem, controle de acesso e usabilidade. CT08 a CT14 acrescentam calendário, conflitos, intervalos, liberação de horário, simultaneidade, proteção da agenda e múltiplas ocorrências. Metas previstas: cobertura do back-end de pelo menos 80%; 95% das buscas com até 10 mil vagas em até dois segundos, com paginação de 20 itens; sucesso de pelo menos 80% nas tarefas de busca e candidatura; interface a partir de 360 px. Resultados, defeitos, correções e retestes devem alimentar as evidências do ciclo. Estes valores são critérios de aceitação planejados.</a:t>
            </a:r>
            <a:endParaRPr lang="pt-BR" sz="12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Fonte: docs/arquitetura.md, Quadro 4, Quadro 8 e Apêndice A; docs/visão.md, seção 6 e Tabela 7.</a:t>
            </a:r>
            <a:endParaRPr lang="pt-BR" sz="1200"/>
          </a:p>
        </p:txBody>
      </p:sp>
      <p:sp>
        <p:nvSpPr>
          <p:cNvPr id="11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97E8F8-A9C4-4B8B-8F23-EBFCA02DD2A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solidFill>
                  <a:srgbClr val="000000"/>
                </a:solidFill>
                <a:latin typeface="Arial"/>
              </a:rPr>
              <a:t>2.º nível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000000"/>
                </a:solidFill>
                <a:latin typeface="Arial"/>
              </a:rPr>
              <a:t>3.º nível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4.º nível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812880" y="225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1400" b="1" spc="100">
                <a:solidFill>
                  <a:srgbClr val="F2A068"/>
                </a:solidFill>
                <a:latin typeface="Arial" panose="020B0604020202020204" pitchFamily="34" charset="0"/>
                <a:ea typeface="Helvetica Neue"/>
              </a:rPr>
              <a:t>MDS 2026.2 · Documento de arquitetura</a:t>
            </a:r>
          </a:p>
        </p:txBody>
      </p:sp>
      <p:sp>
        <p:nvSpPr>
          <p:cNvPr id="3" name="Título"/>
          <p:cNvSpPr>
            <a:spLocks noGrp="1"/>
          </p:cNvSpPr>
          <p:nvPr>
            <p:ph type="title"/>
          </p:nvPr>
        </p:nvSpPr>
        <p:spPr>
          <a:xfrm>
            <a:off x="812880" y="2650000"/>
            <a:ext cx="62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l">
              <a:buNone/>
            </a:pPr>
            <a:r>
              <a:rPr lang="pt-BR" sz="7200" b="1" spc="0">
                <a:solidFill>
                  <a:srgbClr val="F6F3EC"/>
                </a:solidFill>
                <a:latin typeface="Georgia"/>
                <a:ea typeface="Georgia"/>
              </a:rPr>
              <a:t>VolunJá</a:t>
            </a:r>
          </a:p>
        </p:txBody>
      </p:sp>
      <p:sp>
        <p:nvSpPr>
          <p:cNvPr id="4" name="Subtítulo"/>
          <p:cNvSpPr txBox="1"/>
          <p:nvPr/>
        </p:nvSpPr>
        <p:spPr>
          <a:xfrm>
            <a:off x="812880" y="4000000"/>
            <a:ext cx="658368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2000" b="0" spc="0">
                <a:solidFill>
                  <a:srgbClr val="6FD1B4"/>
                </a:solidFill>
                <a:latin typeface="Arial" panose="020B0604020202020204" pitchFamily="34" charset="0"/>
                <a:ea typeface="Helvetica Neue"/>
              </a:rPr>
              <a:t>Decisões técnicas, implementação e testes</a:t>
            </a:r>
          </a:p>
        </p:txBody>
      </p:sp>
      <p:sp>
        <p:nvSpPr>
          <p:cNvPr id="5" name="Rodapé"/>
          <p:cNvSpPr txBox="1"/>
          <p:nvPr/>
        </p:nvSpPr>
        <p:spPr>
          <a:xfrm>
            <a:off x="812880" y="5850000"/>
            <a:ext cx="6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l">
              <a:buNone/>
            </a:pPr>
            <a:r>
              <a:rPr lang="pt-BR" sz="1200" b="0" spc="0">
                <a:solidFill>
                  <a:srgbClr val="9FB0C2"/>
                </a:solidFill>
                <a:latin typeface="Helvetica Neue"/>
                <a:ea typeface="Helvetica Neue"/>
              </a:rPr>
              <a:t>Equipe Gosling · MDS 2026.2</a:t>
            </a:r>
          </a:p>
        </p:txBody>
      </p:sp>
      <p:sp>
        <p:nvSpPr>
          <p:cNvPr id="6" name="Círculo voluntários"/>
          <p:cNvSpPr/>
          <p:nvPr/>
        </p:nvSpPr>
        <p:spPr>
          <a:xfrm>
            <a:off x="7300000" y="2150000"/>
            <a:ext cx="2600000" cy="2600000"/>
          </a:xfrm>
          <a:prstGeom prst="ellipse">
            <a:avLst/>
          </a:prstGeom>
          <a:solidFill>
            <a:srgbClr val="6FD1B4">
              <a:alpha val="25000"/>
            </a:srgbClr>
          </a:solidFill>
          <a:ln w="19050">
            <a:solidFill>
              <a:srgbClr val="6FD1B4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Círculo voluntários rótulo"/>
          <p:cNvSpPr txBox="1"/>
          <p:nvPr/>
        </p:nvSpPr>
        <p:spPr>
          <a:xfrm>
            <a:off x="7350000" y="3270000"/>
            <a:ext cx="16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1600" b="1" spc="0">
                <a:solidFill>
                  <a:srgbClr val="F6F3EC"/>
                </a:solidFill>
                <a:latin typeface="Helvetica Neue"/>
                <a:ea typeface="Helvetica Neue"/>
              </a:rPr>
              <a:t>Voluntários</a:t>
            </a:r>
          </a:p>
        </p:txBody>
      </p:sp>
      <p:sp>
        <p:nvSpPr>
          <p:cNvPr id="8" name="Círculo ONGs"/>
          <p:cNvSpPr/>
          <p:nvPr/>
        </p:nvSpPr>
        <p:spPr>
          <a:xfrm>
            <a:off x="9000000" y="2150000"/>
            <a:ext cx="2600000" cy="2600000"/>
          </a:xfrm>
          <a:prstGeom prst="ellipse">
            <a:avLst/>
          </a:prstGeom>
          <a:solidFill>
            <a:srgbClr val="F2A068">
              <a:alpha val="25000"/>
            </a:srgbClr>
          </a:solidFill>
          <a:ln w="19050">
            <a:solidFill>
              <a:srgbClr val="F2A06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" name="Círculo ONGs rótulo"/>
          <p:cNvSpPr txBox="1"/>
          <p:nvPr/>
        </p:nvSpPr>
        <p:spPr>
          <a:xfrm>
            <a:off x="9950000" y="3270000"/>
            <a:ext cx="165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indent="0" algn="ctr">
              <a:buNone/>
            </a:pPr>
            <a:r>
              <a:rPr lang="pt-BR" sz="1600" b="1" spc="0">
                <a:solidFill>
                  <a:srgbClr val="F6F3EC"/>
                </a:solidFill>
                <a:latin typeface="Helvetica Neue"/>
                <a:ea typeface="Helvetica Neue"/>
              </a:rPr>
              <a:t>ONGs</a:t>
            </a:r>
          </a:p>
        </p:txBody>
      </p:sp>
    </p:spTree>
    <p:extLst>
      <p:ext uri="{BB962C8B-B14F-4D97-AF65-F5344CB8AC3E}">
        <p14:creationId xmlns:p14="http://schemas.microsoft.com/office/powerpoint/2010/main" val="2378726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>
            <a:extLst>
              <a:ext uri="{FF2B5EF4-FFF2-40B4-BE49-F238E27FC236}">
                <a16:creationId xmlns:a16="http://schemas.microsoft.com/office/drawing/2014/main" id="{BDD69622-FEF1-220D-86E4-62D204714D1A}"/>
              </a:ext>
            </a:extLst>
          </p:cNvPr>
          <p:cNvSpPr/>
          <p:nvPr/>
        </p:nvSpPr>
        <p:spPr>
          <a:xfrm>
            <a:off x="4358916" y="1764216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3DB43B3B-330C-2357-261A-21E283EB272A}"/>
              </a:ext>
            </a:extLst>
          </p:cNvPr>
          <p:cNvSpPr/>
          <p:nvPr/>
        </p:nvSpPr>
        <p:spPr>
          <a:xfrm>
            <a:off x="7995456" y="1764216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74C9FCAC-C28E-E0AF-106C-1FBF33BB4021}"/>
              </a:ext>
            </a:extLst>
          </p:cNvPr>
          <p:cNvSpPr/>
          <p:nvPr/>
        </p:nvSpPr>
        <p:spPr>
          <a:xfrm>
            <a:off x="719881" y="1764216"/>
            <a:ext cx="3379680" cy="2067120"/>
          </a:xfrm>
          <a:prstGeom prst="roundRect">
            <a:avLst>
              <a:gd name="adj" fmla="val 4760"/>
            </a:avLst>
          </a:prstGeom>
          <a:solidFill>
            <a:srgbClr val="22384F"/>
          </a:solidFill>
          <a:ln w="6350">
            <a:solidFill>
              <a:srgbClr val="35516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endParaRPr lang="pt-BR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1 · Decisões de arquitetura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Monólito modular em camadas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1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874520"/>
            <a:ext cx="32461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Produto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249424"/>
            <a:ext cx="324612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Vagas e candidaturas com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comprovantes, documentos,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triagem e contato.</a:t>
            </a:r>
            <a:endParaRPr lang="pt-BR" sz="1800"/>
          </a:p>
        </p:txBody>
      </p:sp>
      <p:sp>
        <p:nvSpPr>
          <p:cNvPr id="8" name="Text 8"/>
          <p:cNvSpPr txBox="1"/>
          <p:nvPr/>
        </p:nvSpPr>
        <p:spPr>
          <a:xfrm>
            <a:off x="4471416" y="1874520"/>
            <a:ext cx="31546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Escolha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4471416" y="2249424"/>
            <a:ext cx="315468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SPA React e API FastAPI.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Regras no servidor e módulos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com dados no MySQL.</a:t>
            </a:r>
            <a:endParaRPr lang="pt-BR" sz="1800"/>
          </a:p>
        </p:txBody>
      </p:sp>
      <p:sp>
        <p:nvSpPr>
          <p:cNvPr id="10" name="Text 10"/>
          <p:cNvSpPr txBox="1"/>
          <p:nvPr/>
        </p:nvSpPr>
        <p:spPr>
          <a:xfrm>
            <a:off x="8092440" y="1874520"/>
            <a:ext cx="32918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Por que esse estilo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092440" y="2249424"/>
            <a:ext cx="329184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Quatro pessoas, seis sprints.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Python e React já conhecidos.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Um servidor, módulos testáveis.</a:t>
            </a:r>
            <a:endParaRPr lang="pt-BR" sz="1800"/>
          </a:p>
        </p:txBody>
      </p:sp>
      <p:sp>
        <p:nvSpPr>
          <p:cNvPr id="12" name="Text 12"/>
          <p:cNvSpPr txBox="1"/>
          <p:nvPr/>
        </p:nvSpPr>
        <p:spPr>
          <a:xfrm>
            <a:off x="813816" y="4041648"/>
            <a:ext cx="98755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20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Alternativas avaliadas</a:t>
            </a:r>
            <a:endParaRPr lang="pt-BR" sz="2000" dirty="0"/>
          </a:p>
        </p:txBody>
      </p:sp>
      <p:sp>
        <p:nvSpPr>
          <p:cNvPr id="13" name="Text 13"/>
          <p:cNvSpPr txBox="1"/>
          <p:nvPr/>
        </p:nvSpPr>
        <p:spPr>
          <a:xfrm>
            <a:off x="813816" y="4517136"/>
            <a:ext cx="105613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MVC acopla a interface ao servidor. Microsserviços ampliam a operação.</a:t>
            </a:r>
            <a:endParaRPr lang="pt-BR" sz="1900" dirty="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BaaS não atende à pilha Python definida pela equipe.</a:t>
            </a:r>
            <a:endParaRPr lang="pt-BR" sz="1900" dirty="0"/>
          </a:p>
        </p:txBody>
      </p:sp>
      <p:sp>
        <p:nvSpPr>
          <p:cNvPr id="14" name="Text 14"/>
          <p:cNvSpPr txBox="1"/>
          <p:nvPr/>
        </p:nvSpPr>
        <p:spPr>
          <a:xfrm>
            <a:off x="813816" y="5687568"/>
            <a:ext cx="105613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A separação em camadas permite desenvolver a interface e a API com um contrato comum.</a:t>
            </a:r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3881393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2 · Camadas e comunicação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Arquitetura e responsabilidades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2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719072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Apresentação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93976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React organiza páginas e componentes.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Axios concentra o acesso à API.</a:t>
            </a:r>
            <a:endParaRPr lang="pt-BR" sz="1800"/>
          </a:p>
        </p:txBody>
      </p:sp>
      <p:sp>
        <p:nvSpPr>
          <p:cNvPr id="8" name="Text 8"/>
          <p:cNvSpPr txBox="1"/>
          <p:nvPr/>
        </p:nvSpPr>
        <p:spPr>
          <a:xfrm>
            <a:off x="813816" y="2834640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API e negócio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13816" y="3209544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Routers e Pydantic recebem a requisição.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Services aplicam regras e transações.</a:t>
            </a:r>
            <a:endParaRPr lang="pt-BR" sz="1800"/>
          </a:p>
        </p:txBody>
      </p:sp>
      <p:sp>
        <p:nvSpPr>
          <p:cNvPr id="10" name="Text 10"/>
          <p:cNvSpPr txBox="1"/>
          <p:nvPr/>
        </p:nvSpPr>
        <p:spPr>
          <a:xfrm>
            <a:off x="813816" y="3950208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Persistência e dados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13816" y="4325112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Repositories usam SQLAlchemy.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MySQL e volumes persistem os registros.</a:t>
            </a:r>
            <a:endParaRPr lang="pt-BR" sz="1800"/>
          </a:p>
        </p:txBody>
      </p:sp>
      <p:sp>
        <p:nvSpPr>
          <p:cNvPr id="12" name="Text 12"/>
          <p:cNvSpPr txBox="1"/>
          <p:nvPr/>
        </p:nvSpPr>
        <p:spPr>
          <a:xfrm>
            <a:off x="813816" y="5276088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HTTP/JSON e JWT, SQL, arquivos e SMTP</a:t>
            </a:r>
            <a:endParaRPr lang="pt-BR" sz="17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conectam as partes da aplicação.</a:t>
            </a:r>
            <a:endParaRPr lang="pt-BR" sz="1700"/>
          </a:p>
        </p:txBody>
      </p:sp>
      <p:pic>
        <p:nvPicPr>
          <p:cNvPr id="13" name="Figura 1 · Arquitetura do VolunJá" descr="Figura 1 · Arquitetura do VolunJ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032" y="420624"/>
            <a:ext cx="4454258" cy="5505184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7656490" y="6007608"/>
            <a:ext cx="372779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0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Figura 1 · Arquitetura do VolunJá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1642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3 · Tecnologias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Escolhas técnicas e aplicação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3</a:t>
            </a:r>
            <a:endParaRPr lang="pt-BR" sz="1200"/>
          </a:p>
        </p:txBody>
      </p:sp>
      <p:graphicFrame>
        <p:nvGraphicFramePr>
          <p:cNvPr id="6" name="Editable table 6"/>
          <p:cNvGraphicFramePr/>
          <p:nvPr/>
        </p:nvGraphicFramePr>
        <p:xfrm>
          <a:off x="813816" y="1719072"/>
          <a:ext cx="10561320" cy="3858768"/>
        </p:xfrm>
        <a:graphic>
          <a:graphicData uri="http://schemas.openxmlformats.org/drawingml/2006/table">
            <a:tbl>
              <a:tblPr firstRow="1"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6FD1B4"/>
                          </a:solidFill>
                          <a:latin typeface="Arial"/>
                          <a:ea typeface="Arial"/>
                          <a:cs typeface="Arial"/>
                        </a:rPr>
                        <a:t>Tecnologia</a:t>
                      </a:r>
                      <a:endParaRPr lang="pt-BR" sz="16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23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6FD1B4"/>
                          </a:solidFill>
                          <a:latin typeface="Arial"/>
                          <a:ea typeface="Arial"/>
                          <a:cs typeface="Arial"/>
                        </a:rPr>
                        <a:t>Por que escolher</a:t>
                      </a:r>
                      <a:endParaRPr lang="pt-BR" sz="16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23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6FD1B4"/>
                          </a:solidFill>
                          <a:latin typeface="Arial"/>
                          <a:ea typeface="Arial"/>
                          <a:cs typeface="Arial"/>
                        </a:rPr>
                        <a:t>Como vamos aplicar</a:t>
                      </a:r>
                      <a:endParaRPr lang="pt-BR" sz="16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23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React 19 + JavaScript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Componentes reutilizáveis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 consistência de UX.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Telas por perfil, busca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 formulários acessíveis.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Vite, Router e Axios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Build rápido, rotas organizadas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 HTTP centralizado.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Build da SPA, navegação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 serviços de acesso à API.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FastAPI + Pydantic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Validação de dados e contrato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OpenAPI automático.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Endpoints, schemas e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dependências de autenticação.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SQLAlchemy + Alembic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ORM e evolução versionada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do esquema do banco.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Models, repositories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 migrações no Git.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MySQL 8.4 LTS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Integridade referencial para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entidades relacionadas.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Chaves estrangeiras e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restrições de unicidade.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7"/>
          <p:cNvSpPr txBox="1"/>
          <p:nvPr/>
        </p:nvSpPr>
        <p:spPr>
          <a:xfrm>
            <a:off x="813816" y="5760720"/>
            <a:ext cx="10561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A pilha atende às tecnologias definidas no DV e à separação de responsabilidades do DA.</a:t>
            </a:r>
            <a:endParaRPr lang="pt-BR" sz="1600"/>
          </a:p>
        </p:txBody>
      </p:sp>
    </p:spTree>
    <p:extLst>
      <p:ext uri="{BB962C8B-B14F-4D97-AF65-F5344CB8AC3E}">
        <p14:creationId xmlns:p14="http://schemas.microsoft.com/office/powerpoint/2010/main" val="4278955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4 · Visão de uso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Perfis e funcionalidades do sistema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4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691640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Visitante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66544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Busca e filtra vagas.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Consulta detalhes e realiza o cadastro.</a:t>
            </a:r>
            <a:endParaRPr lang="pt-BR" sz="1800"/>
          </a:p>
        </p:txBody>
      </p:sp>
      <p:sp>
        <p:nvSpPr>
          <p:cNvPr id="8" name="Text 8"/>
          <p:cNvSpPr txBox="1"/>
          <p:nvPr/>
        </p:nvSpPr>
        <p:spPr>
          <a:xfrm>
            <a:off x="813816" y="2715768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Voluntário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13816" y="3090672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Mantém perfil, envia candidaturas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 documentos, recebe comprovantes.</a:t>
            </a:r>
            <a:endParaRPr lang="pt-BR" sz="1800"/>
          </a:p>
        </p:txBody>
      </p:sp>
      <p:sp>
        <p:nvSpPr>
          <p:cNvPr id="10" name="Text 10"/>
          <p:cNvSpPr txBox="1"/>
          <p:nvPr/>
        </p:nvSpPr>
        <p:spPr>
          <a:xfrm>
            <a:off x="813816" y="3739896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Organização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13816" y="4114800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Publica vagas, define documentos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 faz a triagem das candidaturas.</a:t>
            </a:r>
            <a:endParaRPr lang="pt-BR" sz="1800"/>
          </a:p>
        </p:txBody>
      </p:sp>
      <p:sp>
        <p:nvSpPr>
          <p:cNvPr id="12" name="Text 12"/>
          <p:cNvSpPr txBox="1"/>
          <p:nvPr/>
        </p:nvSpPr>
        <p:spPr>
          <a:xfrm>
            <a:off x="813816" y="4764024"/>
            <a:ext cx="475488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Administrador</a:t>
            </a:r>
            <a:endParaRPr lang="pt-BR" sz="1900"/>
          </a:p>
        </p:txBody>
      </p:sp>
      <p:sp>
        <p:nvSpPr>
          <p:cNvPr id="13" name="Text 13"/>
          <p:cNvSpPr txBox="1"/>
          <p:nvPr/>
        </p:nvSpPr>
        <p:spPr>
          <a:xfrm>
            <a:off x="813816" y="5138928"/>
            <a:ext cx="47548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Homologa organizações e modera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vagas, usuários e denúncias.</a:t>
            </a:r>
            <a:endParaRPr lang="pt-BR" sz="1800"/>
          </a:p>
        </p:txBody>
      </p:sp>
      <p:pic>
        <p:nvPicPr>
          <p:cNvPr id="14" name="Figura 3 · Casos de uso e prioridades MoSCoW" descr="Figura 3 · Casos de uso e prioridades MoSC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724" y="310896"/>
            <a:ext cx="4270389" cy="5294634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8038462" y="5770122"/>
            <a:ext cx="3714911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0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Figura 3 · Casos de uso e prioridades MoSCoW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342458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5 · Visão de organização lógica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Organização do código em pacotes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5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719072"/>
            <a:ext cx="4617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Front-end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93976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Pages, components, contexts e hooks.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Services com Axios acessam a API.</a:t>
            </a:r>
            <a:endParaRPr lang="pt-BR" sz="1800"/>
          </a:p>
        </p:txBody>
      </p:sp>
      <p:sp>
        <p:nvSpPr>
          <p:cNvPr id="8" name="Text 8"/>
          <p:cNvSpPr txBox="1"/>
          <p:nvPr/>
        </p:nvSpPr>
        <p:spPr>
          <a:xfrm>
            <a:off x="813816" y="2788920"/>
            <a:ext cx="4617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Módulos de domínio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13816" y="3163824"/>
            <a:ext cx="461772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Auth, usuarios, vagas e candidaturas.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Documentos, comprovantes,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notificacoes e moderacao.</a:t>
            </a:r>
            <a:endParaRPr lang="pt-BR" sz="1800"/>
          </a:p>
        </p:txBody>
      </p:sp>
      <p:sp>
        <p:nvSpPr>
          <p:cNvPr id="10" name="Text 10"/>
          <p:cNvSpPr txBox="1"/>
          <p:nvPr/>
        </p:nvSpPr>
        <p:spPr>
          <a:xfrm>
            <a:off x="813816" y="4123944"/>
            <a:ext cx="4617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Estrutura padrão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13816" y="4498848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router.py e schemas.py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service.py, repository.py e models.py</a:t>
            </a:r>
            <a:endParaRPr lang="pt-BR" sz="1800"/>
          </a:p>
        </p:txBody>
      </p:sp>
      <p:sp>
        <p:nvSpPr>
          <p:cNvPr id="12" name="Text 12"/>
          <p:cNvSpPr txBox="1"/>
          <p:nvPr/>
        </p:nvSpPr>
        <p:spPr>
          <a:xfrm>
            <a:off x="813816" y="5404104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Core reúne segurança, configuração,</a:t>
            </a:r>
            <a:endParaRPr lang="pt-BR" sz="17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sessão de banco e tratamento de erros.</a:t>
            </a:r>
            <a:endParaRPr lang="pt-BR" sz="1700"/>
          </a:p>
        </p:txBody>
      </p:sp>
      <p:pic>
        <p:nvPicPr>
          <p:cNvPr id="13" name="Figura 5 · Pacotes do front-end e do back-end" descr="Figura 5 · Pacotes do front-end e do back-e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597" y="1522013"/>
            <a:ext cx="5029923" cy="4810207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5788152" y="6460687"/>
            <a:ext cx="5577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0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Figura 5 · Pacotes do front-end e do back-end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3464352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6 · Visão estrutural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Componentes e integrações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07488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6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719072"/>
            <a:ext cx="4617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Contratos entre subsistemas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93976"/>
            <a:ext cx="46177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 SPA consome a API REST /api/v1.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Módulos colaboram por services.</a:t>
            </a:r>
            <a:endParaRPr lang="pt-BR" sz="1800"/>
          </a:p>
        </p:txBody>
      </p:sp>
      <p:sp>
        <p:nvSpPr>
          <p:cNvPr id="8" name="Text 8"/>
          <p:cNvSpPr txBox="1"/>
          <p:nvPr/>
        </p:nvSpPr>
        <p:spPr>
          <a:xfrm>
            <a:off x="813816" y="2825496"/>
            <a:ext cx="4617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Dados e documentos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13816" y="3200400"/>
            <a:ext cx="461772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MySQL guarda os dados estruturados.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 módulo documentos controla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 acesso aos arquivos no volume.</a:t>
            </a:r>
            <a:endParaRPr lang="pt-BR" sz="1800"/>
          </a:p>
        </p:txBody>
      </p:sp>
      <p:sp>
        <p:nvSpPr>
          <p:cNvPr id="10" name="Text 10"/>
          <p:cNvSpPr txBox="1"/>
          <p:nvPr/>
        </p:nvSpPr>
        <p:spPr>
          <a:xfrm>
            <a:off x="813816" y="4169664"/>
            <a:ext cx="46177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Comprovantes e avisos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13816" y="4544568"/>
            <a:ext cx="4617720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ReportLab gera comprovantes em PDF.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SMTP com BackgroundTasks envia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e-mails sem atrasar a resposta.</a:t>
            </a:r>
            <a:endParaRPr lang="pt-BR" sz="1800"/>
          </a:p>
        </p:txBody>
      </p:sp>
      <p:sp>
        <p:nvSpPr>
          <p:cNvPr id="12" name="Text 12"/>
          <p:cNvSpPr txBox="1"/>
          <p:nvPr/>
        </p:nvSpPr>
        <p:spPr>
          <a:xfrm>
            <a:off x="813816" y="5559552"/>
            <a:ext cx="4617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Dependências permitem testes isolados.</a:t>
            </a:r>
            <a:endParaRPr lang="pt-BR" sz="1600"/>
          </a:p>
        </p:txBody>
      </p:sp>
      <p:pic>
        <p:nvPicPr>
          <p:cNvPr id="13" name="Figura 6 · Componentes e interfaces da aplicação" descr="Figura 6 · Componentes e interfaces da aplic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991" y="504208"/>
            <a:ext cx="5837729" cy="524608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6345935" y="5869160"/>
            <a:ext cx="5577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0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Figura 6 · Componentes e interfaces da aplicação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03683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792480" y="214884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7 · Modelo de domínio</a:t>
            </a:r>
            <a:endParaRPr lang="pt-BR" sz="1400" dirty="0"/>
          </a:p>
        </p:txBody>
      </p:sp>
      <p:sp>
        <p:nvSpPr>
          <p:cNvPr id="3" name="Slide title"/>
          <p:cNvSpPr txBox="1"/>
          <p:nvPr/>
        </p:nvSpPr>
        <p:spPr>
          <a:xfrm>
            <a:off x="792480" y="448056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Entidades, relacionamentos </a:t>
            </a:r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e persistência</a:t>
            </a:r>
            <a:endParaRPr lang="pt-BR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7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700784"/>
            <a:ext cx="48463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Identidade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75688"/>
            <a:ext cx="4846320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Usuario se especializa em Voluntario</a:t>
            </a:r>
            <a:endParaRPr lang="pt-BR" sz="175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 Organizacao. Cada conta tem um perfil.</a:t>
            </a:r>
            <a:endParaRPr lang="pt-BR" sz="1750"/>
          </a:p>
        </p:txBody>
      </p:sp>
      <p:sp>
        <p:nvSpPr>
          <p:cNvPr id="8" name="Text 8"/>
          <p:cNvSpPr txBox="1"/>
          <p:nvPr/>
        </p:nvSpPr>
        <p:spPr>
          <a:xfrm>
            <a:off x="813816" y="2761488"/>
            <a:ext cx="48463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Operação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13816" y="3136392"/>
            <a:ext cx="484632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Organizacao publica Vaga. Candidatura</a:t>
            </a:r>
            <a:endParaRPr lang="pt-BR" sz="175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liga o voluntário à vaga. Causa e</a:t>
            </a:r>
            <a:endParaRPr lang="pt-BR" sz="175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Disponibilidade apoiam a compatibilidade.</a:t>
            </a:r>
            <a:endParaRPr lang="pt-BR" sz="1750"/>
          </a:p>
        </p:txBody>
      </p:sp>
      <p:sp>
        <p:nvSpPr>
          <p:cNvPr id="10" name="Text 10"/>
          <p:cNvSpPr txBox="1"/>
          <p:nvPr/>
        </p:nvSpPr>
        <p:spPr>
          <a:xfrm>
            <a:off x="813816" y="4050792"/>
            <a:ext cx="48463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Documentos e registros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13816" y="4425696"/>
            <a:ext cx="4846320" cy="85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DocumentoExigido, DocumentoCandidatura</a:t>
            </a:r>
            <a:endParaRPr lang="pt-BR" sz="175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 Comprovante. Notificacao e Denuncia</a:t>
            </a:r>
            <a:endParaRPr lang="pt-BR" sz="175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registram avisos e moderação.</a:t>
            </a:r>
            <a:endParaRPr lang="pt-BR" sz="1750"/>
          </a:p>
        </p:txBody>
      </p:sp>
      <p:sp>
        <p:nvSpPr>
          <p:cNvPr id="12" name="Text 12"/>
          <p:cNvSpPr txBox="1"/>
          <p:nvPr/>
        </p:nvSpPr>
        <p:spPr>
          <a:xfrm>
            <a:off x="813816" y="5477256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SQLAlchemy mapeia as tabelas do MySQL.</a:t>
            </a:r>
            <a:endParaRPr lang="pt-BR" sz="17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Alembic versiona a evolução do esquema.</a:t>
            </a:r>
            <a:endParaRPr lang="pt-BR" sz="1700"/>
          </a:p>
        </p:txBody>
      </p:sp>
      <p:pic>
        <p:nvPicPr>
          <p:cNvPr id="13" name="Figura 7 · Classes do domínio do VolunJá" descr="Figura 7 · Classes do domínio do VolunJ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866" y="115320"/>
            <a:ext cx="4909513" cy="6011160"/>
          </a:xfrm>
          <a:prstGeom prst="rect">
            <a:avLst/>
          </a:prstGeom>
        </p:spPr>
      </p:pic>
      <p:sp>
        <p:nvSpPr>
          <p:cNvPr id="14" name="Text 14"/>
          <p:cNvSpPr txBox="1"/>
          <p:nvPr/>
        </p:nvSpPr>
        <p:spPr>
          <a:xfrm>
            <a:off x="6266282" y="6190488"/>
            <a:ext cx="54406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0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Figura 7 · Classes do domínio do VolunJá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357662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8 · Interação entre camadas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Execução de uma candidatura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8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700784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1  Contrato HTTP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75688"/>
            <a:ext cx="46634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 router valida JWT, perfil e entrada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antes de chamar o serviço.</a:t>
            </a:r>
            <a:endParaRPr lang="pt-BR" sz="1800"/>
          </a:p>
        </p:txBody>
      </p:sp>
      <p:sp>
        <p:nvSpPr>
          <p:cNvPr id="8" name="Text 8"/>
          <p:cNvSpPr txBox="1"/>
          <p:nvPr/>
        </p:nvSpPr>
        <p:spPr>
          <a:xfrm>
            <a:off x="813816" y="2743200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2  Regras e orquestração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13816" y="3118104"/>
            <a:ext cx="46634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 service verifica as regras de negócio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 coordena os outros módulos.</a:t>
            </a:r>
            <a:endParaRPr lang="pt-BR" sz="1800"/>
          </a:p>
        </p:txBody>
      </p:sp>
      <p:sp>
        <p:nvSpPr>
          <p:cNvPr id="10" name="Text 10"/>
          <p:cNvSpPr txBox="1"/>
          <p:nvPr/>
        </p:nvSpPr>
        <p:spPr>
          <a:xfrm>
            <a:off x="813816" y="3785616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3  Persistência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13816" y="416052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 repository persiste no MySQL.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 service controla a transação.</a:t>
            </a:r>
            <a:endParaRPr lang="pt-BR" sz="1800"/>
          </a:p>
        </p:txBody>
      </p:sp>
      <p:sp>
        <p:nvSpPr>
          <p:cNvPr id="12" name="Text 12"/>
          <p:cNvSpPr txBox="1"/>
          <p:nvPr/>
        </p:nvSpPr>
        <p:spPr>
          <a:xfrm>
            <a:off x="813816" y="5056632"/>
            <a:ext cx="46634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4  Resposta e notificação</a:t>
            </a:r>
            <a:endParaRPr lang="pt-BR" sz="1900"/>
          </a:p>
        </p:txBody>
      </p:sp>
      <p:sp>
        <p:nvSpPr>
          <p:cNvPr id="13" name="Text 13"/>
          <p:cNvSpPr txBox="1"/>
          <p:nvPr/>
        </p:nvSpPr>
        <p:spPr>
          <a:xfrm>
            <a:off x="813816" y="5431536"/>
            <a:ext cx="46634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HTTP 201 confirma o registro.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 e-mail segue em segundo plano.</a:t>
            </a:r>
            <a:endParaRPr lang="pt-BR" sz="1800"/>
          </a:p>
        </p:txBody>
      </p:sp>
      <p:pic>
        <p:nvPicPr>
          <p:cNvPr id="14" name="Figura 2 · Sequência de uma candidatura" descr="Figura 2 · Sequência de uma candidatur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4746" y="587354"/>
            <a:ext cx="5367727" cy="4915195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6765916" y="5575701"/>
            <a:ext cx="5577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0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Figura 2 · Sequência de uma candidatura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537898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9 · Fluxo de negócio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70866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Da candidatura à triagem</a:t>
            </a:r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e ao contato</a:t>
            </a:r>
            <a:endParaRPr lang="pt-BR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9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700784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Entrada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75688"/>
            <a:ext cx="48006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Busca, detalhes da vaga e autenticação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preparam a candidatura do voluntário.</a:t>
            </a:r>
            <a:endParaRPr lang="pt-BR" sz="1800"/>
          </a:p>
        </p:txBody>
      </p:sp>
      <p:sp>
        <p:nvSpPr>
          <p:cNvPr id="8" name="Text 8"/>
          <p:cNvSpPr txBox="1"/>
          <p:nvPr/>
        </p:nvSpPr>
        <p:spPr>
          <a:xfrm>
            <a:off x="813816" y="2743200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Validação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13816" y="3118104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Vaga aberta, sem duplicidade e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com documentos e horários válidos.</a:t>
            </a:r>
            <a:endParaRPr lang="pt-BR" sz="1800"/>
          </a:p>
        </p:txBody>
      </p:sp>
      <p:sp>
        <p:nvSpPr>
          <p:cNvPr id="10" name="Text 10"/>
          <p:cNvSpPr txBox="1"/>
          <p:nvPr/>
        </p:nvSpPr>
        <p:spPr>
          <a:xfrm>
            <a:off x="813816" y="4014216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Registro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13816" y="4389120"/>
            <a:ext cx="48006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Candidatura pendente, documentos,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comprovante e aviso à organização.</a:t>
            </a:r>
            <a:endParaRPr lang="pt-BR" sz="1800"/>
          </a:p>
        </p:txBody>
      </p:sp>
      <p:sp>
        <p:nvSpPr>
          <p:cNvPr id="12" name="Text 12"/>
          <p:cNvSpPr txBox="1"/>
          <p:nvPr/>
        </p:nvSpPr>
        <p:spPr>
          <a:xfrm>
            <a:off x="813816" y="5056632"/>
            <a:ext cx="48006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Triagem e conexão</a:t>
            </a:r>
            <a:endParaRPr lang="pt-BR" sz="1900"/>
          </a:p>
        </p:txBody>
      </p:sp>
      <p:sp>
        <p:nvSpPr>
          <p:cNvPr id="13" name="Text 13"/>
          <p:cNvSpPr txBox="1"/>
          <p:nvPr/>
        </p:nvSpPr>
        <p:spPr>
          <a:xfrm>
            <a:off x="813816" y="5431536"/>
            <a:ext cx="48006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 organização aceita ou recusa.</a:t>
            </a:r>
            <a:endParaRPr lang="pt-BR" sz="18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8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 aceite libera o contato entre as partes.</a:t>
            </a:r>
            <a:endParaRPr lang="pt-BR" sz="1800"/>
          </a:p>
        </p:txBody>
      </p:sp>
      <p:pic>
        <p:nvPicPr>
          <p:cNvPr id="14" name="Figura 4 · Atividades de voluntário, sistema e organização" descr="Figura 4 · Atividades de voluntário, sistema e organizaçã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648" y="99553"/>
            <a:ext cx="4908333" cy="6085588"/>
          </a:xfrm>
          <a:prstGeom prst="rect">
            <a:avLst/>
          </a:prstGeom>
        </p:spPr>
      </p:pic>
      <p:sp>
        <p:nvSpPr>
          <p:cNvPr id="15" name="Text 15"/>
          <p:cNvSpPr txBox="1"/>
          <p:nvPr/>
        </p:nvSpPr>
        <p:spPr>
          <a:xfrm>
            <a:off x="5975894" y="6264351"/>
            <a:ext cx="55778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0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Figura 4 · Atividades de voluntário, sistema e organização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299623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10 · Implementação e integração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Aplicação da arquitetura no desenvolvimento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10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700784"/>
            <a:ext cx="105613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1  Contratos e dados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75688"/>
            <a:ext cx="10561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OpenAPI e Pydantic definem entradas e saídas.</a:t>
            </a:r>
            <a:endParaRPr lang="pt-BR" sz="19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SQLAlchemy e migrações Alembic estruturam o MySQL.</a:t>
            </a:r>
            <a:endParaRPr lang="pt-BR" sz="1900"/>
          </a:p>
        </p:txBody>
      </p:sp>
      <p:sp>
        <p:nvSpPr>
          <p:cNvPr id="8" name="Text 8"/>
          <p:cNvSpPr txBox="1"/>
          <p:nvPr/>
        </p:nvSpPr>
        <p:spPr>
          <a:xfrm>
            <a:off x="813816" y="2761488"/>
            <a:ext cx="105613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2  Funcionalidades por domínio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13816" y="3136392"/>
            <a:ext cx="10561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Services concentram as regras. React usa hooks, Axios</a:t>
            </a:r>
            <a:endParaRPr lang="pt-BR" sz="19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 CSS Modules com os padrões do protótipo no Figma.</a:t>
            </a:r>
            <a:endParaRPr lang="pt-BR" sz="1900"/>
          </a:p>
        </p:txBody>
      </p:sp>
      <p:sp>
        <p:nvSpPr>
          <p:cNvPr id="10" name="Text 10"/>
          <p:cNvSpPr txBox="1"/>
          <p:nvPr/>
        </p:nvSpPr>
        <p:spPr>
          <a:xfrm>
            <a:off x="813816" y="3822192"/>
            <a:ext cx="105613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3  Qualidade em cada pull request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13816" y="4197096"/>
            <a:ext cx="10561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Ruff, ESLint e Prettier padronizam o código.</a:t>
            </a:r>
            <a:endParaRPr lang="pt-BR" sz="19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GitHub Actions executa lint e testes com relatório de cobertura.</a:t>
            </a:r>
            <a:endParaRPr lang="pt-BR" sz="1900"/>
          </a:p>
        </p:txBody>
      </p:sp>
      <p:sp>
        <p:nvSpPr>
          <p:cNvPr id="12" name="Text 12"/>
          <p:cNvSpPr txBox="1"/>
          <p:nvPr/>
        </p:nvSpPr>
        <p:spPr>
          <a:xfrm>
            <a:off x="813816" y="4882896"/>
            <a:ext cx="1056132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4  Revisão e entrega do incremento</a:t>
            </a:r>
            <a:endParaRPr lang="pt-BR" sz="1900"/>
          </a:p>
        </p:txBody>
      </p:sp>
      <p:sp>
        <p:nvSpPr>
          <p:cNvPr id="13" name="Text 13"/>
          <p:cNvSpPr txBox="1"/>
          <p:nvPr/>
        </p:nvSpPr>
        <p:spPr>
          <a:xfrm>
            <a:off x="813816" y="5257800"/>
            <a:ext cx="105613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Branch de trabalho entra na developer após revisão de um colega.</a:t>
            </a:r>
            <a:endParaRPr lang="pt-BR" sz="19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 main recebe o incremento validado ao fim da sprint.</a:t>
            </a:r>
            <a:endParaRPr lang="pt-BR" sz="1900"/>
          </a:p>
        </p:txBody>
      </p:sp>
    </p:spTree>
    <p:extLst>
      <p:ext uri="{BB962C8B-B14F-4D97-AF65-F5344CB8AC3E}">
        <p14:creationId xmlns:p14="http://schemas.microsoft.com/office/powerpoint/2010/main" val="3639714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11 · Segurança e restrições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Segurança e controle de acesso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11</a:t>
            </a:r>
            <a:endParaRPr lang="pt-BR" sz="1200"/>
          </a:p>
        </p:txBody>
      </p:sp>
      <p:sp>
        <p:nvSpPr>
          <p:cNvPr id="6" name="Text 6"/>
          <p:cNvSpPr txBox="1"/>
          <p:nvPr/>
        </p:nvSpPr>
        <p:spPr>
          <a:xfrm>
            <a:off x="813816" y="1700784"/>
            <a:ext cx="512064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JWT e Argon2</a:t>
            </a:r>
            <a:endParaRPr lang="pt-BR" sz="1900"/>
          </a:p>
        </p:txBody>
      </p:sp>
      <p:sp>
        <p:nvSpPr>
          <p:cNvPr id="7" name="Text 7"/>
          <p:cNvSpPr txBox="1"/>
          <p:nvPr/>
        </p:nvSpPr>
        <p:spPr>
          <a:xfrm>
            <a:off x="813816" y="2075688"/>
            <a:ext cx="5120640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Token com expiração e senha protegida por hash.</a:t>
            </a:r>
            <a:endParaRPr lang="pt-BR" sz="175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Autorização por perfil e por dono do recurso.</a:t>
            </a:r>
            <a:endParaRPr lang="pt-BR" sz="1750"/>
          </a:p>
        </p:txBody>
      </p:sp>
      <p:sp>
        <p:nvSpPr>
          <p:cNvPr id="8" name="Text 8"/>
          <p:cNvSpPr txBox="1"/>
          <p:nvPr/>
        </p:nvSpPr>
        <p:spPr>
          <a:xfrm>
            <a:off x="6318504" y="1700784"/>
            <a:ext cx="5056632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Validação e arquivos privados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6318504" y="2075688"/>
            <a:ext cx="505663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Pydantic valida entradas. PDF, JPG ou PNG</a:t>
            </a:r>
            <a:endParaRPr lang="pt-BR" sz="175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até 5 MB, entregues apenas pela API.</a:t>
            </a:r>
            <a:endParaRPr lang="pt-BR" sz="1750"/>
          </a:p>
        </p:txBody>
      </p:sp>
      <p:graphicFrame>
        <p:nvGraphicFramePr>
          <p:cNvPr id="10" name="Editable table 10"/>
          <p:cNvGraphicFramePr/>
          <p:nvPr/>
        </p:nvGraphicFramePr>
        <p:xfrm>
          <a:off x="813816" y="3108960"/>
          <a:ext cx="10561320" cy="2331720"/>
        </p:xfrm>
        <a:graphic>
          <a:graphicData uri="http://schemas.openxmlformats.org/drawingml/2006/table">
            <a:tbl>
              <a:tblPr firstRow="1"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6FD1B4"/>
                          </a:solidFill>
                          <a:latin typeface="Arial"/>
                          <a:ea typeface="Arial"/>
                          <a:cs typeface="Arial"/>
                        </a:rPr>
                        <a:t>Perfil</a:t>
                      </a:r>
                      <a:endParaRPr lang="pt-BR" sz="16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23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6FD1B4"/>
                          </a:solidFill>
                          <a:latin typeface="Arial"/>
                          <a:ea typeface="Arial"/>
                          <a:cs typeface="Arial"/>
                        </a:rPr>
                        <a:t>Permissão central</a:t>
                      </a:r>
                      <a:endParaRPr lang="pt-BR" sz="16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23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Visitante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Consulta vagas e detalhes públicos.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Voluntário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Mantém perfil, candidaturas, agenda e documentos próprios.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Organização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Gerencia vagas próprias e as candidaturas recebidas.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Administrador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Homologa e modera. Não acessa documentos de candidaturas.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11"/>
          <p:cNvSpPr txBox="1"/>
          <p:nvPr/>
        </p:nvSpPr>
        <p:spPr>
          <a:xfrm>
            <a:off x="813816" y="5696712"/>
            <a:ext cx="10561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5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Testes e demonstrações usam dados fictícios. O MVP prevê até 100 usuários autenticados simultâneos.</a:t>
            </a:r>
            <a:endParaRPr lang="pt-BR" sz="1550"/>
          </a:p>
        </p:txBody>
      </p:sp>
    </p:spTree>
    <p:extLst>
      <p:ext uri="{BB962C8B-B14F-4D97-AF65-F5344CB8AC3E}">
        <p14:creationId xmlns:p14="http://schemas.microsoft.com/office/powerpoint/2010/main" val="414720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12 · Visão de implantação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Implantação do MVP e operação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12</a:t>
            </a:r>
            <a:endParaRPr lang="pt-BR" sz="1200"/>
          </a:p>
        </p:txBody>
      </p:sp>
      <p:pic>
        <p:nvPicPr>
          <p:cNvPr id="6" name="Figura 8 · Ambiente de implantação do VolunJá" descr="Figura 8 · Ambiente de implantação do VolunJ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880447"/>
            <a:ext cx="7498080" cy="3810339"/>
          </a:xfrm>
          <a:prstGeom prst="rect">
            <a:avLst/>
          </a:prstGeom>
        </p:spPr>
      </p:pic>
      <p:sp>
        <p:nvSpPr>
          <p:cNvPr id="7" name="Text 7"/>
          <p:cNvSpPr txBox="1"/>
          <p:nvPr/>
        </p:nvSpPr>
        <p:spPr>
          <a:xfrm>
            <a:off x="813816" y="5907024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0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Figura 8 · Ambiente de implantação do VolunJá</a:t>
            </a:r>
            <a:endParaRPr lang="pt-BR" sz="1050"/>
          </a:p>
        </p:txBody>
      </p:sp>
      <p:sp>
        <p:nvSpPr>
          <p:cNvPr id="8" name="Text 8"/>
          <p:cNvSpPr txBox="1"/>
          <p:nvPr/>
        </p:nvSpPr>
        <p:spPr>
          <a:xfrm>
            <a:off x="8641080" y="1719072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Docker Compose</a:t>
            </a:r>
            <a:endParaRPr lang="pt-BR" sz="1900"/>
          </a:p>
        </p:txBody>
      </p:sp>
      <p:sp>
        <p:nvSpPr>
          <p:cNvPr id="9" name="Text 9"/>
          <p:cNvSpPr txBox="1"/>
          <p:nvPr/>
        </p:nvSpPr>
        <p:spPr>
          <a:xfrm>
            <a:off x="8641080" y="209397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Mesmo ambiente para</a:t>
            </a:r>
            <a:endParaRPr lang="pt-BR" sz="17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todos os integrantes.</a:t>
            </a:r>
            <a:endParaRPr lang="pt-BR" sz="1700"/>
          </a:p>
        </p:txBody>
      </p:sp>
      <p:sp>
        <p:nvSpPr>
          <p:cNvPr id="10" name="Text 10"/>
          <p:cNvSpPr txBox="1"/>
          <p:nvPr/>
        </p:nvSpPr>
        <p:spPr>
          <a:xfrm>
            <a:off x="8641080" y="2770632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Nginx e Uvicorn</a:t>
            </a:r>
            <a:endParaRPr lang="pt-BR" sz="1900"/>
          </a:p>
        </p:txBody>
      </p:sp>
      <p:sp>
        <p:nvSpPr>
          <p:cNvPr id="11" name="Text 11"/>
          <p:cNvSpPr txBox="1"/>
          <p:nvPr/>
        </p:nvSpPr>
        <p:spPr>
          <a:xfrm>
            <a:off x="8641080" y="314553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Build da SPA, proxy /api</a:t>
            </a:r>
            <a:endParaRPr lang="pt-BR" sz="17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 execução do FastAPI.</a:t>
            </a:r>
            <a:endParaRPr lang="pt-BR" sz="1700"/>
          </a:p>
        </p:txBody>
      </p:sp>
      <p:sp>
        <p:nvSpPr>
          <p:cNvPr id="12" name="Text 12"/>
          <p:cNvSpPr txBox="1"/>
          <p:nvPr/>
        </p:nvSpPr>
        <p:spPr>
          <a:xfrm>
            <a:off x="8641080" y="3822192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Cloudflare Tunnel</a:t>
            </a:r>
            <a:endParaRPr lang="pt-BR" sz="1900"/>
          </a:p>
        </p:txBody>
      </p:sp>
      <p:sp>
        <p:nvSpPr>
          <p:cNvPr id="13" name="Text 13"/>
          <p:cNvSpPr txBox="1"/>
          <p:nvPr/>
        </p:nvSpPr>
        <p:spPr>
          <a:xfrm>
            <a:off x="8641080" y="419709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Publica o MVP da equipe</a:t>
            </a:r>
            <a:endParaRPr lang="pt-BR" sz="17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em domínio de teste.</a:t>
            </a:r>
            <a:endParaRPr lang="pt-BR" sz="1700"/>
          </a:p>
        </p:txBody>
      </p:sp>
      <p:sp>
        <p:nvSpPr>
          <p:cNvPr id="14" name="Text 14"/>
          <p:cNvSpPr txBox="1"/>
          <p:nvPr/>
        </p:nvSpPr>
        <p:spPr>
          <a:xfrm>
            <a:off x="8641080" y="4873752"/>
            <a:ext cx="2743200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900" b="1" dirty="0">
                <a:solidFill>
                  <a:srgbClr val="6FD1B4"/>
                </a:solidFill>
                <a:latin typeface="Arial"/>
                <a:ea typeface="Arial"/>
                <a:cs typeface="Arial"/>
              </a:rPr>
              <a:t>Volumes persistentes</a:t>
            </a:r>
            <a:endParaRPr lang="pt-BR" sz="1900"/>
          </a:p>
        </p:txBody>
      </p:sp>
      <p:sp>
        <p:nvSpPr>
          <p:cNvPr id="15" name="Text 15"/>
          <p:cNvSpPr txBox="1"/>
          <p:nvPr/>
        </p:nvSpPr>
        <p:spPr>
          <a:xfrm>
            <a:off x="8641080" y="5248656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Dados e uploads persistem.</a:t>
            </a:r>
            <a:endParaRPr lang="pt-BR" sz="1700"/>
          </a:p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70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MySQL na rede interna.</a:t>
            </a:r>
            <a:endParaRPr lang="pt-BR" sz="1700"/>
          </a:p>
        </p:txBody>
      </p:sp>
    </p:spTree>
    <p:extLst>
      <p:ext uri="{BB962C8B-B14F-4D97-AF65-F5344CB8AC3E}">
        <p14:creationId xmlns:p14="http://schemas.microsoft.com/office/powerpoint/2010/main" val="366850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"/>
          <p:cNvSpPr txBox="1"/>
          <p:nvPr/>
        </p:nvSpPr>
        <p:spPr>
          <a:xfrm>
            <a:off x="813816" y="521208"/>
            <a:ext cx="10607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400" b="1" dirty="0">
                <a:solidFill>
                  <a:srgbClr val="F2A068"/>
                </a:solidFill>
                <a:latin typeface="Arial"/>
                <a:ea typeface="Arial"/>
                <a:cs typeface="Arial"/>
              </a:rPr>
              <a:t>13 · Testes e qualidade</a:t>
            </a:r>
            <a:endParaRPr lang="pt-BR" sz="1400"/>
          </a:p>
        </p:txBody>
      </p:sp>
      <p:sp>
        <p:nvSpPr>
          <p:cNvPr id="3" name="Slide title"/>
          <p:cNvSpPr txBox="1"/>
          <p:nvPr/>
        </p:nvSpPr>
        <p:spPr>
          <a:xfrm>
            <a:off x="813816" y="914400"/>
            <a:ext cx="10607040" cy="5760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F6F3EC"/>
                </a:solidFill>
                <a:latin typeface="Georgia"/>
                <a:ea typeface="Georgia"/>
                <a:cs typeface="Georgia"/>
              </a:rPr>
              <a:t>Estratégia de testes e metas</a:t>
            </a:r>
            <a:endParaRPr lang="pt-BR" sz="3000"/>
          </a:p>
        </p:txBody>
      </p:sp>
      <p:sp>
        <p:nvSpPr>
          <p:cNvPr id="4" name="Footer"/>
          <p:cNvSpPr txBox="1"/>
          <p:nvPr/>
        </p:nvSpPr>
        <p:spPr>
          <a:xfrm>
            <a:off x="813816" y="6227064"/>
            <a:ext cx="832104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VolunJá · Equipe Gosling · MDS 2026.2</a:t>
            </a:r>
            <a:endParaRPr lang="pt-BR" sz="1200"/>
          </a:p>
        </p:txBody>
      </p:sp>
      <p:sp>
        <p:nvSpPr>
          <p:cNvPr id="5" name="Page number"/>
          <p:cNvSpPr txBox="1"/>
          <p:nvPr/>
        </p:nvSpPr>
        <p:spPr>
          <a:xfrm>
            <a:off x="10671048" y="6227064"/>
            <a:ext cx="694944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r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20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13</a:t>
            </a:r>
            <a:endParaRPr lang="pt-BR" sz="1200"/>
          </a:p>
        </p:txBody>
      </p:sp>
      <p:graphicFrame>
        <p:nvGraphicFramePr>
          <p:cNvPr id="6" name="Editable table 6"/>
          <p:cNvGraphicFramePr/>
          <p:nvPr/>
        </p:nvGraphicFramePr>
        <p:xfrm>
          <a:off x="813816" y="1719072"/>
          <a:ext cx="10561320" cy="2752344"/>
        </p:xfrm>
        <a:graphic>
          <a:graphicData uri="http://schemas.openxmlformats.org/drawingml/2006/table">
            <a:tbl>
              <a:tblPr firstRow="1"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6FD1B4"/>
                          </a:solidFill>
                          <a:latin typeface="Arial"/>
                          <a:ea typeface="Arial"/>
                          <a:cs typeface="Arial"/>
                        </a:rPr>
                        <a:t>Nível</a:t>
                      </a:r>
                      <a:endParaRPr lang="pt-BR" sz="16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23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6FD1B4"/>
                          </a:solidFill>
                          <a:latin typeface="Arial"/>
                          <a:ea typeface="Arial"/>
                          <a:cs typeface="Arial"/>
                        </a:rPr>
                        <a:t>Ferramentas</a:t>
                      </a:r>
                      <a:endParaRPr lang="pt-BR" sz="16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23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600" b="1" dirty="0">
                          <a:solidFill>
                            <a:srgbClr val="6FD1B4"/>
                          </a:solidFill>
                          <a:latin typeface="Arial"/>
                          <a:ea typeface="Arial"/>
                          <a:cs typeface="Arial"/>
                        </a:rPr>
                        <a:t>O que testaremos</a:t>
                      </a:r>
                      <a:endParaRPr lang="pt-BR" sz="16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23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Unitário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pytest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Vitest + Testing Library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Regras dos services, validações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 comportamento de componentes.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895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Integração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pytest e MySQL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API, repositories, permissões,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transações e operações simultâneas.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1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Sistema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Playwright + axe-core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Cadastro, vagas, candidatura e triagem.</a:t>
                      </a:r>
                      <a:endParaRPr lang="pt-BR" sz="1700"/>
                    </a:p>
                    <a:p>
                      <a:pPr marL="0" indent="0" algn="l">
                        <a:lnSpc>
                          <a:spcPct val="11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pt-BR" sz="1700" b="0" dirty="0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Responsividade desde 360 px e acessibilidade.</a:t>
                      </a:r>
                      <a:endParaRPr lang="pt-BR" sz="1700"/>
                    </a:p>
                  </a:txBody>
                  <a:tcPr marL="109728" marR="109728" marT="73152" marB="54864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728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7"/>
          <p:cNvSpPr txBox="1"/>
          <p:nvPr/>
        </p:nvSpPr>
        <p:spPr>
          <a:xfrm>
            <a:off x="813816" y="4572000"/>
            <a:ext cx="10561320" cy="2834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550" b="0" dirty="0">
                <a:solidFill>
                  <a:srgbClr val="AEBCCB"/>
                </a:solidFill>
                <a:latin typeface="Arial"/>
                <a:ea typeface="Arial"/>
                <a:cs typeface="Arial"/>
              </a:rPr>
              <a:t>CT01–CT14 cobrem o produto, incluindo documentos, controle de acesso e agenda.</a:t>
            </a:r>
            <a:endParaRPr lang="pt-BR" sz="1550"/>
          </a:p>
        </p:txBody>
      </p:sp>
      <p:sp>
        <p:nvSpPr>
          <p:cNvPr id="8" name="Text 8"/>
          <p:cNvSpPr txBox="1"/>
          <p:nvPr/>
        </p:nvSpPr>
        <p:spPr>
          <a:xfrm>
            <a:off x="813816" y="5010912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6FD1B4"/>
                </a:solidFill>
                <a:latin typeface="Georgia"/>
                <a:ea typeface="Georgia"/>
                <a:cs typeface="Georgia"/>
              </a:rPr>
              <a:t>≥ 80%</a:t>
            </a:r>
            <a:endParaRPr lang="pt-BR" sz="3000"/>
          </a:p>
        </p:txBody>
      </p:sp>
      <p:sp>
        <p:nvSpPr>
          <p:cNvPr id="9" name="Text 9"/>
          <p:cNvSpPr txBox="1"/>
          <p:nvPr/>
        </p:nvSpPr>
        <p:spPr>
          <a:xfrm>
            <a:off x="813816" y="5623560"/>
            <a:ext cx="33375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5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cobertura do back-end</a:t>
            </a:r>
            <a:endParaRPr lang="pt-BR" sz="1550"/>
          </a:p>
        </p:txBody>
      </p:sp>
      <p:sp>
        <p:nvSpPr>
          <p:cNvPr id="10" name="Text 10"/>
          <p:cNvSpPr txBox="1"/>
          <p:nvPr/>
        </p:nvSpPr>
        <p:spPr>
          <a:xfrm>
            <a:off x="4471416" y="5010912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6FD1B4"/>
                </a:solidFill>
                <a:latin typeface="Georgia"/>
                <a:ea typeface="Georgia"/>
                <a:cs typeface="Georgia"/>
              </a:rPr>
              <a:t>≤ 2 s</a:t>
            </a:r>
            <a:endParaRPr lang="pt-BR" sz="3000"/>
          </a:p>
        </p:txBody>
      </p:sp>
      <p:sp>
        <p:nvSpPr>
          <p:cNvPr id="11" name="Text 11"/>
          <p:cNvSpPr txBox="1"/>
          <p:nvPr/>
        </p:nvSpPr>
        <p:spPr>
          <a:xfrm>
            <a:off x="4471416" y="5623560"/>
            <a:ext cx="33375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5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95% das buscas, com 10 mil vagas</a:t>
            </a:r>
            <a:endParaRPr lang="pt-BR" sz="1550"/>
          </a:p>
        </p:txBody>
      </p:sp>
      <p:sp>
        <p:nvSpPr>
          <p:cNvPr id="12" name="Text 12"/>
          <p:cNvSpPr txBox="1"/>
          <p:nvPr/>
        </p:nvSpPr>
        <p:spPr>
          <a:xfrm>
            <a:off x="8129016" y="5010912"/>
            <a:ext cx="3337560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3000" b="1" dirty="0">
                <a:solidFill>
                  <a:srgbClr val="6FD1B4"/>
                </a:solidFill>
                <a:latin typeface="Georgia"/>
                <a:ea typeface="Georgia"/>
                <a:cs typeface="Georgia"/>
              </a:rPr>
              <a:t>≥ 80%</a:t>
            </a:r>
            <a:endParaRPr lang="pt-BR" sz="3000"/>
          </a:p>
        </p:txBody>
      </p:sp>
      <p:sp>
        <p:nvSpPr>
          <p:cNvPr id="13" name="Text 13"/>
          <p:cNvSpPr txBox="1"/>
          <p:nvPr/>
        </p:nvSpPr>
        <p:spPr>
          <a:xfrm>
            <a:off x="8129016" y="5623560"/>
            <a:ext cx="333756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550" b="0" dirty="0">
                <a:solidFill>
                  <a:srgbClr val="F6F3EC"/>
                </a:solidFill>
                <a:latin typeface="Arial"/>
                <a:ea typeface="Arial"/>
                <a:cs typeface="Arial"/>
              </a:rPr>
              <a:t>sucesso em busca e candidatura</a:t>
            </a:r>
            <a:endParaRPr lang="pt-BR" sz="1550"/>
          </a:p>
        </p:txBody>
      </p:sp>
    </p:spTree>
    <p:extLst>
      <p:ext uri="{BB962C8B-B14F-4D97-AF65-F5344CB8AC3E}">
        <p14:creationId xmlns:p14="http://schemas.microsoft.com/office/powerpoint/2010/main" val="492661839"/>
      </p:ext>
    </p:extLst>
  </p:cSld>
  <p:clrMapOvr>
    <a:masterClrMapping/>
  </p:clrMapOvr>
</p:sld>
</file>

<file path=ppt/theme/theme1.xml><?xml version="1.0" encoding="utf-8"?>
<a:theme xmlns:a="http://schemas.openxmlformats.org/drawingml/2006/main" name="VolunJá – Visão do Produto e do Projeto">
  <a:themeElements>
    <a:clrScheme name="VolunJá – Visão do Produto e do Projeto">
      <a:dk1>
        <a:srgbClr val="1D2733"/>
      </a:dk1>
      <a:lt1>
        <a:srgbClr val="F6F3EC"/>
      </a:lt1>
      <a:dk2>
        <a:srgbClr val="535A61"/>
      </a:dk2>
      <a:lt2>
        <a:srgbClr val="E0DFDA"/>
      </a:lt2>
      <a:accent1>
        <a:srgbClr val="22384F"/>
      </a:accent1>
      <a:accent2>
        <a:srgbClr val="177A62"/>
      </a:accent2>
      <a:accent3>
        <a:srgbClr val="6FD1B4"/>
      </a:accent3>
      <a:accent4>
        <a:srgbClr val="B9501A"/>
      </a:accent4>
      <a:accent5>
        <a:srgbClr val="F2A068"/>
      </a:accent5>
      <a:accent6>
        <a:srgbClr val="5B6672"/>
      </a:accent6>
      <a:hlink>
        <a:srgbClr val="0563C1"/>
      </a:hlink>
      <a:folHlink>
        <a:srgbClr val="954F72"/>
      </a:folHlink>
    </a:clrScheme>
    <a:fontScheme name="VolunJá – Visão do Produto e do Projeto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olunJá – Visão do Produto e do Projeto">
  <a:themeElements>
    <a:clrScheme name="VolunJá – Visão do Produto e do Projeto">
      <a:dk1>
        <a:srgbClr val="1D2733"/>
      </a:dk1>
      <a:lt1>
        <a:srgbClr val="F6F3EC"/>
      </a:lt1>
      <a:dk2>
        <a:srgbClr val="535A61"/>
      </a:dk2>
      <a:lt2>
        <a:srgbClr val="E0DFDA"/>
      </a:lt2>
      <a:accent1>
        <a:srgbClr val="22384F"/>
      </a:accent1>
      <a:accent2>
        <a:srgbClr val="177A62"/>
      </a:accent2>
      <a:accent3>
        <a:srgbClr val="6FD1B4"/>
      </a:accent3>
      <a:accent4>
        <a:srgbClr val="B9501A"/>
      </a:accent4>
      <a:accent5>
        <a:srgbClr val="F2A068"/>
      </a:accent5>
      <a:accent6>
        <a:srgbClr val="5B6672"/>
      </a:accent6>
      <a:hlink>
        <a:srgbClr val="0563C1"/>
      </a:hlink>
      <a:folHlink>
        <a:srgbClr val="954F72"/>
      </a:folHlink>
    </a:clrScheme>
    <a:fontScheme name="VolunJá – Visão do Produto e do Projeto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4092</Words>
  <Application>Microsoft Office PowerPoint</Application>
  <PresentationFormat>Widescreen</PresentationFormat>
  <Paragraphs>303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Arial</vt:lpstr>
      <vt:lpstr>Georgia</vt:lpstr>
      <vt:lpstr>Helvetica Neue</vt:lpstr>
      <vt:lpstr>Symbol</vt:lpstr>
      <vt:lpstr>Times New Roman</vt:lpstr>
      <vt:lpstr>Wingdings</vt:lpstr>
      <vt:lpstr>VolunJá – Visão do Produto e do Projeto</vt:lpstr>
      <vt:lpstr>VolunJá – Visão do Produto e do Projeto</vt:lpstr>
      <vt:lpstr>VolunJá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VolunJá – Documento de Arquitetura</dc:title>
  <dc:subject/>
  <dc:creator/>
  <dc:description/>
  <cp:lastModifiedBy>Setor Licitações - Licitamais  MT</cp:lastModifiedBy>
  <cp:revision>6</cp:revision>
  <dcterms:created xsi:type="dcterms:W3CDTF">2026-10-14T20:37:54Z</dcterms:created>
  <dcterms:modified xsi:type="dcterms:W3CDTF">2026-10-19T13:30:42Z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